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8SJIblfdBWHLH/KXRcqPGBsST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Lato-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ato-bold.fntdata"/><Relationship Id="rId6" Type="http://schemas.openxmlformats.org/officeDocument/2006/relationships/slide" Target="slides/slide2.xml"/><Relationship Id="rId18" Type="http://schemas.openxmlformats.org/officeDocument/2006/relationships/font" Target="fonts/Lat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167493" y="1122363"/>
            <a:ext cx="7096800" cy="2387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b="1"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 type="subTitle"/>
          </p:nvPr>
        </p:nvSpPr>
        <p:spPr>
          <a:xfrm>
            <a:off x="1167493" y="3602038"/>
            <a:ext cx="9500400" cy="806700"/>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3200"/>
              <a:buNone/>
              <a:defRPr sz="32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p:nvPr/>
        </p:nvSpPr>
        <p:spPr>
          <a:xfrm>
            <a:off x="0" y="4572000"/>
            <a:ext cx="12192000" cy="2286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 name="Google Shape;19;p15"/>
          <p:cNvSpPr/>
          <p:nvPr/>
        </p:nvSpPr>
        <p:spPr>
          <a:xfrm>
            <a:off x="583746" y="4960030"/>
            <a:ext cx="1551300" cy="1551300"/>
          </a:xfrm>
          <a:prstGeom prst="ellipse">
            <a:avLst/>
          </a:prstGeom>
          <a:solidFill>
            <a:schemeClr val="dk2"/>
          </a:solidFill>
          <a:ln cap="flat" cmpd="sng" w="12700">
            <a:solidFill>
              <a:srgbClr val="004BB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 name="Google Shape;20;p15"/>
          <p:cNvSpPr/>
          <p:nvPr/>
        </p:nvSpPr>
        <p:spPr>
          <a:xfrm>
            <a:off x="1" y="4571999"/>
            <a:ext cx="1117875" cy="1117875"/>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 name="Google Shape;21;p15"/>
          <p:cNvSpPr/>
          <p:nvPr/>
        </p:nvSpPr>
        <p:spPr>
          <a:xfrm>
            <a:off x="1" y="5739492"/>
            <a:ext cx="1117875" cy="1117875"/>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2" name="Google Shape;22;p15"/>
          <p:cNvGrpSpPr/>
          <p:nvPr/>
        </p:nvGrpSpPr>
        <p:grpSpPr>
          <a:xfrm>
            <a:off x="8264878" y="-3418"/>
            <a:ext cx="3927680" cy="3165108"/>
            <a:chOff x="9857014" y="13834"/>
            <a:chExt cx="2334986" cy="1881641"/>
          </a:xfrm>
        </p:grpSpPr>
        <p:sp>
          <p:nvSpPr>
            <p:cNvPr id="23" name="Google Shape;23;p15"/>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 name="Google Shape;24;p15"/>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5" name="Google Shape;25;p15"/>
          <p:cNvSpPr/>
          <p:nvPr/>
        </p:nvSpPr>
        <p:spPr>
          <a:xfrm>
            <a:off x="0" y="-1"/>
            <a:ext cx="1166792" cy="1166792"/>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 name="Google Shape;26;p15"/>
          <p:cNvSpPr/>
          <p:nvPr/>
        </p:nvSpPr>
        <p:spPr>
          <a:xfrm>
            <a:off x="11024507" y="4580708"/>
            <a:ext cx="1167493" cy="2277847"/>
          </a:xfrm>
          <a:custGeom>
            <a:rect b="b" l="l" r="r" t="t"/>
            <a:pathLst>
              <a:path extrusionOk="0" h="2272167" w="1167493">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6"/>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 type="body"/>
          </p:nvPr>
        </p:nvSpPr>
        <p:spPr>
          <a:xfrm>
            <a:off x="1167493" y="2017467"/>
            <a:ext cx="9779100" cy="3366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6"/>
          <p:cNvSpPr/>
          <p:nvPr/>
        </p:nvSpPr>
        <p:spPr>
          <a:xfrm flipH="1">
            <a:off x="8581528" y="1"/>
            <a:ext cx="3610472" cy="3610472"/>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 name="Google Shape;31;p16"/>
          <p:cNvSpPr/>
          <p:nvPr/>
        </p:nvSpPr>
        <p:spPr>
          <a:xfrm flipH="1">
            <a:off x="8581528" y="3246896"/>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 name="Google Shape;32;p16"/>
          <p:cNvSpPr/>
          <p:nvPr/>
        </p:nvSpPr>
        <p:spPr>
          <a:xfrm>
            <a:off x="1" y="0"/>
            <a:ext cx="933865" cy="933865"/>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33" name="Google Shape;33;p16"/>
          <p:cNvGrpSpPr/>
          <p:nvPr/>
        </p:nvGrpSpPr>
        <p:grpSpPr>
          <a:xfrm>
            <a:off x="8082091" y="5590903"/>
            <a:ext cx="1572380" cy="1267097"/>
            <a:chOff x="7413403" y="4976359"/>
            <a:chExt cx="2334986" cy="1881641"/>
          </a:xfrm>
        </p:grpSpPr>
        <p:sp>
          <p:nvSpPr>
            <p:cNvPr id="34" name="Google Shape;34;p16"/>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 name="Google Shape;35;p16"/>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36" name="Google Shape;36;p16"/>
          <p:cNvSpPr txBox="1"/>
          <p:nvPr>
            <p:ph idx="10" type="dt"/>
          </p:nvPr>
        </p:nvSpPr>
        <p:spPr>
          <a:xfrm>
            <a:off x="3810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accent2"/>
        </a:solidFill>
      </p:bgPr>
    </p:bg>
    <p:spTree>
      <p:nvGrpSpPr>
        <p:cNvPr id="39" name="Shape 39"/>
        <p:cNvGrpSpPr/>
        <p:nvPr/>
      </p:nvGrpSpPr>
      <p:grpSpPr>
        <a:xfrm>
          <a:off x="0" y="0"/>
          <a:ext cx="0" cy="0"/>
          <a:chOff x="0" y="0"/>
          <a:chExt cx="0" cy="0"/>
        </a:xfrm>
      </p:grpSpPr>
      <p:sp>
        <p:nvSpPr>
          <p:cNvPr id="40" name="Google Shape;40;p17"/>
          <p:cNvSpPr/>
          <p:nvPr/>
        </p:nvSpPr>
        <p:spPr>
          <a:xfrm>
            <a:off x="0" y="2286002"/>
            <a:ext cx="12208800" cy="4572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 name="Google Shape;41;p17"/>
          <p:cNvSpPr/>
          <p:nvPr/>
        </p:nvSpPr>
        <p:spPr>
          <a:xfrm flipH="1">
            <a:off x="8598350" y="3246896"/>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 name="Google Shape;42;p17"/>
          <p:cNvSpPr/>
          <p:nvPr/>
        </p:nvSpPr>
        <p:spPr>
          <a:xfrm>
            <a:off x="1" y="0"/>
            <a:ext cx="933865" cy="933865"/>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3" name="Google Shape;43;p17"/>
          <p:cNvSpPr/>
          <p:nvPr/>
        </p:nvSpPr>
        <p:spPr>
          <a:xfrm rot="-5400000">
            <a:off x="10343976" y="438027"/>
            <a:ext cx="2286194" cy="1409748"/>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 name="Google Shape;44;p17"/>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 type="body"/>
          </p:nvPr>
        </p:nvSpPr>
        <p:spPr>
          <a:xfrm>
            <a:off x="1167492" y="2653167"/>
            <a:ext cx="9779100" cy="34365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lt1"/>
              </a:buClr>
              <a:buSzPts val="2400"/>
              <a:buNone/>
              <a:defRPr sz="2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17"/>
          <p:cNvSpPr txBox="1"/>
          <p:nvPr>
            <p:ph idx="10" type="dt"/>
          </p:nvPr>
        </p:nvSpPr>
        <p:spPr>
          <a:xfrm>
            <a:off x="3810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10206318" y="6356350"/>
            <a:ext cx="16047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accent1"/>
        </a:solidFill>
      </p:bgPr>
    </p:bg>
    <p:spTree>
      <p:nvGrpSpPr>
        <p:cNvPr id="49" name="Shape 49"/>
        <p:cNvGrpSpPr/>
        <p:nvPr/>
      </p:nvGrpSpPr>
      <p:grpSpPr>
        <a:xfrm>
          <a:off x="0" y="0"/>
          <a:ext cx="0" cy="0"/>
          <a:chOff x="0" y="0"/>
          <a:chExt cx="0" cy="0"/>
        </a:xfrm>
      </p:grpSpPr>
      <p:sp>
        <p:nvSpPr>
          <p:cNvPr id="50" name="Google Shape;50;p18"/>
          <p:cNvSpPr txBox="1"/>
          <p:nvPr>
            <p:ph type="title"/>
          </p:nvPr>
        </p:nvSpPr>
        <p:spPr>
          <a:xfrm>
            <a:off x="1798721" y="1684338"/>
            <a:ext cx="8594700" cy="2810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lt1"/>
              </a:buClr>
              <a:buSzPts val="4600"/>
              <a:buFont typeface="Arial"/>
              <a:buNone/>
              <a:defRPr sz="46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 type="body"/>
          </p:nvPr>
        </p:nvSpPr>
        <p:spPr>
          <a:xfrm>
            <a:off x="381000" y="519405"/>
            <a:ext cx="1364400" cy="109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004DBF"/>
              </a:buClr>
              <a:buSzPts val="23900"/>
              <a:buNone/>
              <a:defRPr b="1" sz="23900">
                <a:solidFill>
                  <a:srgbClr val="004DBF"/>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400"/>
              <a:buNone/>
              <a:defRPr b="1">
                <a:solidFill>
                  <a:schemeClr val="lt1"/>
                </a:solidFill>
                <a:latin typeface="Arial"/>
                <a:ea typeface="Arial"/>
                <a:cs typeface="Arial"/>
                <a:sym typeface="Arial"/>
              </a:defRPr>
            </a:lvl2pPr>
            <a:lvl3pPr indent="-228600" lvl="2" marL="1371600" algn="l">
              <a:lnSpc>
                <a:spcPct val="90000"/>
              </a:lnSpc>
              <a:spcBef>
                <a:spcPts val="500"/>
              </a:spcBef>
              <a:spcAft>
                <a:spcPts val="0"/>
              </a:spcAft>
              <a:buClr>
                <a:schemeClr val="lt1"/>
              </a:buClr>
              <a:buSzPts val="2000"/>
              <a:buNone/>
              <a:defRPr b="1">
                <a:solidFill>
                  <a:schemeClr val="lt1"/>
                </a:solidFill>
                <a:latin typeface="Arial"/>
                <a:ea typeface="Arial"/>
                <a:cs typeface="Arial"/>
                <a:sym typeface="Arial"/>
              </a:defRPr>
            </a:lvl3pPr>
            <a:lvl4pPr indent="-228600" lvl="3" marL="18288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4pPr>
            <a:lvl5pPr indent="-228600" lvl="4" marL="22860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8"/>
          <p:cNvSpPr txBox="1"/>
          <p:nvPr>
            <p:ph idx="2" type="body"/>
          </p:nvPr>
        </p:nvSpPr>
        <p:spPr>
          <a:xfrm>
            <a:off x="6881813" y="4494213"/>
            <a:ext cx="3511500" cy="67950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228600" lvl="1" marL="9144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indent="-228600" lvl="2" marL="1371600" algn="r">
              <a:lnSpc>
                <a:spcPct val="90000"/>
              </a:lnSpc>
              <a:spcBef>
                <a:spcPts val="500"/>
              </a:spcBef>
              <a:spcAft>
                <a:spcPts val="0"/>
              </a:spcAft>
              <a:buClr>
                <a:schemeClr val="lt1"/>
              </a:buClr>
              <a:buSzPts val="1600"/>
              <a:buNone/>
              <a:defRPr sz="1600">
                <a:solidFill>
                  <a:schemeClr val="lt1"/>
                </a:solidFill>
                <a:latin typeface="Arial"/>
                <a:ea typeface="Arial"/>
                <a:cs typeface="Arial"/>
                <a:sym typeface="Arial"/>
              </a:defRPr>
            </a:lvl3pPr>
            <a:lvl4pPr indent="-228600" lvl="3" marL="1828800" algn="r">
              <a:lnSpc>
                <a:spcPct val="90000"/>
              </a:lnSpc>
              <a:spcBef>
                <a:spcPts val="500"/>
              </a:spcBef>
              <a:spcAft>
                <a:spcPts val="0"/>
              </a:spcAft>
              <a:buClr>
                <a:schemeClr val="lt1"/>
              </a:buClr>
              <a:buSzPts val="1400"/>
              <a:buNone/>
              <a:defRPr sz="1400">
                <a:solidFill>
                  <a:schemeClr val="lt1"/>
                </a:solidFill>
                <a:latin typeface="Arial"/>
                <a:ea typeface="Arial"/>
                <a:cs typeface="Arial"/>
                <a:sym typeface="Arial"/>
              </a:defRPr>
            </a:lvl4pPr>
            <a:lvl5pPr indent="-228600" lvl="4" marL="2286000" algn="r">
              <a:lnSpc>
                <a:spcPct val="90000"/>
              </a:lnSpc>
              <a:spcBef>
                <a:spcPts val="500"/>
              </a:spcBef>
              <a:spcAft>
                <a:spcPts val="0"/>
              </a:spcAft>
              <a:buClr>
                <a:schemeClr val="lt1"/>
              </a:buClr>
              <a:buSzPts val="1400"/>
              <a:buNone/>
              <a:defRPr sz="14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8"/>
          <p:cNvSpPr txBox="1"/>
          <p:nvPr>
            <p:ph idx="3" type="body"/>
          </p:nvPr>
        </p:nvSpPr>
        <p:spPr>
          <a:xfrm>
            <a:off x="10609104" y="3399692"/>
            <a:ext cx="1364400" cy="109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004DBF"/>
              </a:buClr>
              <a:buSzPts val="23900"/>
              <a:buNone/>
              <a:defRPr b="1" sz="23900">
                <a:solidFill>
                  <a:srgbClr val="004DBF"/>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400"/>
              <a:buNone/>
              <a:defRPr b="1">
                <a:solidFill>
                  <a:schemeClr val="lt1"/>
                </a:solidFill>
                <a:latin typeface="Arial"/>
                <a:ea typeface="Arial"/>
                <a:cs typeface="Arial"/>
                <a:sym typeface="Arial"/>
              </a:defRPr>
            </a:lvl2pPr>
            <a:lvl3pPr indent="-228600" lvl="2" marL="1371600" algn="l">
              <a:lnSpc>
                <a:spcPct val="90000"/>
              </a:lnSpc>
              <a:spcBef>
                <a:spcPts val="500"/>
              </a:spcBef>
              <a:spcAft>
                <a:spcPts val="0"/>
              </a:spcAft>
              <a:buClr>
                <a:schemeClr val="lt1"/>
              </a:buClr>
              <a:buSzPts val="2000"/>
              <a:buNone/>
              <a:defRPr b="1">
                <a:solidFill>
                  <a:schemeClr val="lt1"/>
                </a:solidFill>
                <a:latin typeface="Arial"/>
                <a:ea typeface="Arial"/>
                <a:cs typeface="Arial"/>
                <a:sym typeface="Arial"/>
              </a:defRPr>
            </a:lvl3pPr>
            <a:lvl4pPr indent="-228600" lvl="3" marL="18288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4pPr>
            <a:lvl5pPr indent="-228600" lvl="4" marL="22860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8"/>
          <p:cNvSpPr txBox="1"/>
          <p:nvPr>
            <p:ph idx="10" type="dt"/>
          </p:nvPr>
        </p:nvSpPr>
        <p:spPr>
          <a:xfrm>
            <a:off x="3810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2" type="sldNum"/>
          </p:nvPr>
        </p:nvSpPr>
        <p:spPr>
          <a:xfrm>
            <a:off x="90678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7" name="Shape 57"/>
        <p:cNvGrpSpPr/>
        <p:nvPr/>
      </p:nvGrpSpPr>
      <p:grpSpPr>
        <a:xfrm>
          <a:off x="0" y="0"/>
          <a:ext cx="0" cy="0"/>
          <a:chOff x="0" y="0"/>
          <a:chExt cx="0" cy="0"/>
        </a:xfrm>
      </p:grpSpPr>
      <p:sp>
        <p:nvSpPr>
          <p:cNvPr id="58" name="Google Shape;58;p19"/>
          <p:cNvSpPr/>
          <p:nvPr/>
        </p:nvSpPr>
        <p:spPr>
          <a:xfrm>
            <a:off x="0" y="-1664"/>
            <a:ext cx="9857100" cy="6859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 name="Google Shape;59;p19"/>
          <p:cNvSpPr txBox="1"/>
          <p:nvPr>
            <p:ph type="title"/>
          </p:nvPr>
        </p:nvSpPr>
        <p:spPr>
          <a:xfrm>
            <a:off x="750430" y="381000"/>
            <a:ext cx="8401500" cy="13257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p:nvPr>
            <p:ph idx="2" type="pic"/>
          </p:nvPr>
        </p:nvSpPr>
        <p:spPr>
          <a:xfrm>
            <a:off x="750429" y="2227758"/>
            <a:ext cx="1200300" cy="1201200"/>
          </a:xfrm>
          <a:prstGeom prst="rect">
            <a:avLst/>
          </a:prstGeom>
          <a:noFill/>
          <a:ln>
            <a:noFill/>
          </a:ln>
        </p:spPr>
      </p:sp>
      <p:sp>
        <p:nvSpPr>
          <p:cNvPr id="61" name="Google Shape;61;p19"/>
          <p:cNvSpPr txBox="1"/>
          <p:nvPr>
            <p:ph idx="1" type="body"/>
          </p:nvPr>
        </p:nvSpPr>
        <p:spPr>
          <a:xfrm>
            <a:off x="2123351" y="2426400"/>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9"/>
          <p:cNvSpPr txBox="1"/>
          <p:nvPr>
            <p:ph idx="3" type="body"/>
          </p:nvPr>
        </p:nvSpPr>
        <p:spPr>
          <a:xfrm>
            <a:off x="2123350" y="2811646"/>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9"/>
          <p:cNvSpPr/>
          <p:nvPr>
            <p:ph idx="4" type="pic"/>
          </p:nvPr>
        </p:nvSpPr>
        <p:spPr>
          <a:xfrm>
            <a:off x="5495813" y="2227758"/>
            <a:ext cx="1200300" cy="1201200"/>
          </a:xfrm>
          <a:prstGeom prst="rect">
            <a:avLst/>
          </a:prstGeom>
          <a:noFill/>
          <a:ln>
            <a:noFill/>
          </a:ln>
        </p:spPr>
      </p:sp>
      <p:sp>
        <p:nvSpPr>
          <p:cNvPr id="64" name="Google Shape;64;p19"/>
          <p:cNvSpPr txBox="1"/>
          <p:nvPr>
            <p:ph idx="5" type="body"/>
          </p:nvPr>
        </p:nvSpPr>
        <p:spPr>
          <a:xfrm>
            <a:off x="6870817" y="2422565"/>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9"/>
          <p:cNvSpPr txBox="1"/>
          <p:nvPr>
            <p:ph idx="6" type="body"/>
          </p:nvPr>
        </p:nvSpPr>
        <p:spPr>
          <a:xfrm>
            <a:off x="6870816" y="2807811"/>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9"/>
          <p:cNvSpPr/>
          <p:nvPr>
            <p:ph idx="7" type="pic"/>
          </p:nvPr>
        </p:nvSpPr>
        <p:spPr>
          <a:xfrm>
            <a:off x="750429" y="4254273"/>
            <a:ext cx="1200300" cy="1201200"/>
          </a:xfrm>
          <a:prstGeom prst="rect">
            <a:avLst/>
          </a:prstGeom>
          <a:noFill/>
          <a:ln>
            <a:noFill/>
          </a:ln>
        </p:spPr>
      </p:sp>
      <p:sp>
        <p:nvSpPr>
          <p:cNvPr id="67" name="Google Shape;67;p19"/>
          <p:cNvSpPr txBox="1"/>
          <p:nvPr>
            <p:ph idx="8" type="body"/>
          </p:nvPr>
        </p:nvSpPr>
        <p:spPr>
          <a:xfrm>
            <a:off x="2123351" y="4498793"/>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9"/>
          <p:cNvSpPr txBox="1"/>
          <p:nvPr>
            <p:ph idx="9" type="body"/>
          </p:nvPr>
        </p:nvSpPr>
        <p:spPr>
          <a:xfrm>
            <a:off x="2123350" y="4884039"/>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9"/>
          <p:cNvSpPr/>
          <p:nvPr>
            <p:ph idx="13" type="pic"/>
          </p:nvPr>
        </p:nvSpPr>
        <p:spPr>
          <a:xfrm>
            <a:off x="5495813" y="4254273"/>
            <a:ext cx="1200300" cy="1201200"/>
          </a:xfrm>
          <a:prstGeom prst="rect">
            <a:avLst/>
          </a:prstGeom>
          <a:noFill/>
          <a:ln>
            <a:noFill/>
          </a:ln>
        </p:spPr>
      </p:sp>
      <p:sp>
        <p:nvSpPr>
          <p:cNvPr id="70" name="Google Shape;70;p19"/>
          <p:cNvSpPr txBox="1"/>
          <p:nvPr>
            <p:ph idx="14" type="body"/>
          </p:nvPr>
        </p:nvSpPr>
        <p:spPr>
          <a:xfrm>
            <a:off x="6870817" y="4498793"/>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5" type="body"/>
          </p:nvPr>
        </p:nvSpPr>
        <p:spPr>
          <a:xfrm>
            <a:off x="6870816" y="4884039"/>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9"/>
          <p:cNvSpPr txBox="1"/>
          <p:nvPr>
            <p:ph idx="10" type="dt"/>
          </p:nvPr>
        </p:nvSpPr>
        <p:spPr>
          <a:xfrm>
            <a:off x="381000" y="6356350"/>
            <a:ext cx="1569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1" type="ftr"/>
          </p:nvPr>
        </p:nvSpPr>
        <p:spPr>
          <a:xfrm>
            <a:off x="2871106"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8332334" y="6356350"/>
            <a:ext cx="1167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19"/>
          <p:cNvSpPr/>
          <p:nvPr/>
        </p:nvSpPr>
        <p:spPr>
          <a:xfrm flipH="1" rot="5400000">
            <a:off x="9499940" y="355410"/>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 name="Google Shape;76;p19"/>
          <p:cNvSpPr/>
          <p:nvPr/>
        </p:nvSpPr>
        <p:spPr>
          <a:xfrm flipH="1">
            <a:off x="10866894" y="1879977"/>
            <a:ext cx="1325105" cy="1325105"/>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 name="Google Shape;77;p19"/>
          <p:cNvSpPr/>
          <p:nvPr/>
        </p:nvSpPr>
        <p:spPr>
          <a:xfrm>
            <a:off x="11024507" y="-1664"/>
            <a:ext cx="1167494" cy="1881641"/>
          </a:xfrm>
          <a:custGeom>
            <a:rect b="b" l="l" r="r" t="t"/>
            <a:pathLst>
              <a:path extrusionOk="0" h="1881641" w="1167494">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 name="Google Shape;78;p19"/>
          <p:cNvSpPr/>
          <p:nvPr/>
        </p:nvSpPr>
        <p:spPr>
          <a:xfrm>
            <a:off x="10334091" y="2737752"/>
            <a:ext cx="1380900" cy="13809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 name="Google Shape;79;p19"/>
          <p:cNvSpPr/>
          <p:nvPr/>
        </p:nvSpPr>
        <p:spPr>
          <a:xfrm flipH="1" rot="-5400000">
            <a:off x="10667432" y="5333432"/>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 name="Google Shape;80;p19"/>
          <p:cNvSpPr/>
          <p:nvPr/>
        </p:nvSpPr>
        <p:spPr>
          <a:xfrm flipH="1" rot="10800000">
            <a:off x="9857012" y="3651963"/>
            <a:ext cx="1325105" cy="1325105"/>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 name="Google Shape;81;p19"/>
          <p:cNvSpPr/>
          <p:nvPr/>
        </p:nvSpPr>
        <p:spPr>
          <a:xfrm rot="10800000">
            <a:off x="9857013" y="4976359"/>
            <a:ext cx="1167494" cy="1881641"/>
          </a:xfrm>
          <a:custGeom>
            <a:rect b="b" l="l" r="r" t="t"/>
            <a:pathLst>
              <a:path extrusionOk="0" h="1881641" w="1167494">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p:cSld name="Graph">
    <p:spTree>
      <p:nvGrpSpPr>
        <p:cNvPr id="82" name="Shape 82"/>
        <p:cNvGrpSpPr/>
        <p:nvPr/>
      </p:nvGrpSpPr>
      <p:grpSpPr>
        <a:xfrm>
          <a:off x="0" y="0"/>
          <a:ext cx="0" cy="0"/>
          <a:chOff x="0" y="0"/>
          <a:chExt cx="0" cy="0"/>
        </a:xfrm>
      </p:grpSpPr>
      <p:sp>
        <p:nvSpPr>
          <p:cNvPr id="83" name="Google Shape;83;p20"/>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0"/>
          <p:cNvSpPr txBox="1"/>
          <p:nvPr>
            <p:ph idx="1" type="body"/>
          </p:nvPr>
        </p:nvSpPr>
        <p:spPr>
          <a:xfrm>
            <a:off x="1167493" y="2087561"/>
            <a:ext cx="9779100" cy="3366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0"/>
          <p:cNvSpPr/>
          <p:nvPr/>
        </p:nvSpPr>
        <p:spPr>
          <a:xfrm flipH="1">
            <a:off x="8581528" y="1"/>
            <a:ext cx="3610472" cy="3610472"/>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 name="Google Shape;86;p20"/>
          <p:cNvSpPr/>
          <p:nvPr/>
        </p:nvSpPr>
        <p:spPr>
          <a:xfrm flipH="1" rot="5400000">
            <a:off x="633" y="3247528"/>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 name="Google Shape;87;p20"/>
          <p:cNvSpPr txBox="1"/>
          <p:nvPr>
            <p:ph idx="10" type="dt"/>
          </p:nvPr>
        </p:nvSpPr>
        <p:spPr>
          <a:xfrm>
            <a:off x="381000" y="6356350"/>
            <a:ext cx="17010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0"/>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and Content">
  <p:cSld name="2 Title and Content">
    <p:spTree>
      <p:nvGrpSpPr>
        <p:cNvPr id="90" name="Shape 90"/>
        <p:cNvGrpSpPr/>
        <p:nvPr/>
      </p:nvGrpSpPr>
      <p:grpSpPr>
        <a:xfrm>
          <a:off x="0" y="0"/>
          <a:ext cx="0" cy="0"/>
          <a:chOff x="0" y="0"/>
          <a:chExt cx="0" cy="0"/>
        </a:xfrm>
      </p:grpSpPr>
      <p:sp>
        <p:nvSpPr>
          <p:cNvPr id="91" name="Google Shape;91;p21"/>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1"/>
          <p:cNvSpPr txBox="1"/>
          <p:nvPr>
            <p:ph idx="1" type="body"/>
          </p:nvPr>
        </p:nvSpPr>
        <p:spPr>
          <a:xfrm>
            <a:off x="1167493" y="2528203"/>
            <a:ext cx="4663500" cy="2828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21"/>
          <p:cNvSpPr/>
          <p:nvPr/>
        </p:nvSpPr>
        <p:spPr>
          <a:xfrm flipH="1">
            <a:off x="8581528" y="1"/>
            <a:ext cx="3610472" cy="3610472"/>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 name="Google Shape;94;p21"/>
          <p:cNvSpPr/>
          <p:nvPr/>
        </p:nvSpPr>
        <p:spPr>
          <a:xfrm flipH="1">
            <a:off x="8581528" y="3246896"/>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p21"/>
          <p:cNvSpPr/>
          <p:nvPr/>
        </p:nvSpPr>
        <p:spPr>
          <a:xfrm>
            <a:off x="1" y="0"/>
            <a:ext cx="933865" cy="933865"/>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96" name="Google Shape;96;p21"/>
          <p:cNvGrpSpPr/>
          <p:nvPr/>
        </p:nvGrpSpPr>
        <p:grpSpPr>
          <a:xfrm>
            <a:off x="8082091" y="5590903"/>
            <a:ext cx="1572380" cy="1267097"/>
            <a:chOff x="7413403" y="4976359"/>
            <a:chExt cx="2334986" cy="1881641"/>
          </a:xfrm>
        </p:grpSpPr>
        <p:sp>
          <p:nvSpPr>
            <p:cNvPr id="97" name="Google Shape;97;p21"/>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 name="Google Shape;98;p21"/>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99" name="Google Shape;99;p21"/>
          <p:cNvSpPr txBox="1"/>
          <p:nvPr>
            <p:ph idx="10" type="dt"/>
          </p:nvPr>
        </p:nvSpPr>
        <p:spPr>
          <a:xfrm>
            <a:off x="3810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1"/>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21"/>
          <p:cNvSpPr txBox="1"/>
          <p:nvPr>
            <p:ph idx="2" type="body"/>
          </p:nvPr>
        </p:nvSpPr>
        <p:spPr>
          <a:xfrm>
            <a:off x="6283235" y="2528203"/>
            <a:ext cx="4663500" cy="2828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21"/>
          <p:cNvSpPr txBox="1"/>
          <p:nvPr>
            <p:ph idx="3" type="body"/>
          </p:nvPr>
        </p:nvSpPr>
        <p:spPr>
          <a:xfrm>
            <a:off x="1167493" y="2005689"/>
            <a:ext cx="4663500" cy="522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21"/>
          <p:cNvSpPr txBox="1"/>
          <p:nvPr>
            <p:ph idx="4" type="body"/>
          </p:nvPr>
        </p:nvSpPr>
        <p:spPr>
          <a:xfrm>
            <a:off x="6283235" y="2005689"/>
            <a:ext cx="4663500" cy="522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Chart 2">
    <p:bg>
      <p:bgPr>
        <a:solidFill>
          <a:schemeClr val="accent2"/>
        </a:solidFill>
      </p:bgPr>
    </p:bg>
    <p:spTree>
      <p:nvGrpSpPr>
        <p:cNvPr id="105" name="Shape 105"/>
        <p:cNvGrpSpPr/>
        <p:nvPr/>
      </p:nvGrpSpPr>
      <p:grpSpPr>
        <a:xfrm>
          <a:off x="0" y="0"/>
          <a:ext cx="0" cy="0"/>
          <a:chOff x="0" y="0"/>
          <a:chExt cx="0" cy="0"/>
        </a:xfrm>
      </p:grpSpPr>
      <p:grpSp>
        <p:nvGrpSpPr>
          <p:cNvPr id="106" name="Google Shape;106;p22"/>
          <p:cNvGrpSpPr/>
          <p:nvPr/>
        </p:nvGrpSpPr>
        <p:grpSpPr>
          <a:xfrm rot="-5400000">
            <a:off x="10772262" y="152643"/>
            <a:ext cx="1572380" cy="1267097"/>
            <a:chOff x="7413403" y="4976359"/>
            <a:chExt cx="2334986" cy="1881641"/>
          </a:xfrm>
        </p:grpSpPr>
        <p:sp>
          <p:nvSpPr>
            <p:cNvPr id="107" name="Google Shape;107;p22"/>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 name="Google Shape;108;p22"/>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9" name="Google Shape;109;p22"/>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2"/>
          <p:cNvSpPr txBox="1"/>
          <p:nvPr>
            <p:ph idx="1" type="body"/>
          </p:nvPr>
        </p:nvSpPr>
        <p:spPr>
          <a:xfrm>
            <a:off x="1167493" y="2087563"/>
            <a:ext cx="9779100" cy="3366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22"/>
          <p:cNvSpPr txBox="1"/>
          <p:nvPr>
            <p:ph idx="10" type="dt"/>
          </p:nvPr>
        </p:nvSpPr>
        <p:spPr>
          <a:xfrm>
            <a:off x="381000" y="6356350"/>
            <a:ext cx="17010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2"/>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p:cSld name="3 Title and Content">
    <p:spTree>
      <p:nvGrpSpPr>
        <p:cNvPr id="114" name="Shape 114"/>
        <p:cNvGrpSpPr/>
        <p:nvPr/>
      </p:nvGrpSpPr>
      <p:grpSpPr>
        <a:xfrm>
          <a:off x="0" y="0"/>
          <a:ext cx="0" cy="0"/>
          <a:chOff x="0" y="0"/>
          <a:chExt cx="0" cy="0"/>
        </a:xfrm>
      </p:grpSpPr>
      <p:sp>
        <p:nvSpPr>
          <p:cNvPr id="115" name="Google Shape;115;p23"/>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3"/>
          <p:cNvSpPr txBox="1"/>
          <p:nvPr>
            <p:ph idx="1" type="body"/>
          </p:nvPr>
        </p:nvSpPr>
        <p:spPr>
          <a:xfrm>
            <a:off x="1167491" y="2526318"/>
            <a:ext cx="3218700" cy="2828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23"/>
          <p:cNvSpPr/>
          <p:nvPr/>
        </p:nvSpPr>
        <p:spPr>
          <a:xfrm rot="5400000">
            <a:off x="8581528" y="0"/>
            <a:ext cx="3610472" cy="3610472"/>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 name="Google Shape;118;p23"/>
          <p:cNvSpPr/>
          <p:nvPr/>
        </p:nvSpPr>
        <p:spPr>
          <a:xfrm>
            <a:off x="-2364" y="3246896"/>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 name="Google Shape;119;p23"/>
          <p:cNvSpPr/>
          <p:nvPr/>
        </p:nvSpPr>
        <p:spPr>
          <a:xfrm flipH="1" rot="5400000">
            <a:off x="11258135" y="5924135"/>
            <a:ext cx="933865" cy="933865"/>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20" name="Google Shape;120;p23"/>
          <p:cNvGrpSpPr/>
          <p:nvPr/>
        </p:nvGrpSpPr>
        <p:grpSpPr>
          <a:xfrm>
            <a:off x="2587416" y="5590903"/>
            <a:ext cx="1572380" cy="1267097"/>
            <a:chOff x="7413403" y="4976359"/>
            <a:chExt cx="2334986" cy="1881641"/>
          </a:xfrm>
        </p:grpSpPr>
        <p:sp>
          <p:nvSpPr>
            <p:cNvPr id="121" name="Google Shape;121;p23"/>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2" name="Google Shape;122;p23"/>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23" name="Google Shape;123;p23"/>
          <p:cNvSpPr txBox="1"/>
          <p:nvPr>
            <p:ph idx="10" type="dt"/>
          </p:nvPr>
        </p:nvSpPr>
        <p:spPr>
          <a:xfrm>
            <a:off x="381000" y="6356350"/>
            <a:ext cx="17670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3"/>
          <p:cNvSpPr txBox="1"/>
          <p:nvPr>
            <p:ph idx="2" type="body"/>
          </p:nvPr>
        </p:nvSpPr>
        <p:spPr>
          <a:xfrm>
            <a:off x="4683787" y="2526318"/>
            <a:ext cx="3173400" cy="2828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23"/>
          <p:cNvSpPr txBox="1"/>
          <p:nvPr>
            <p:ph idx="3" type="body"/>
          </p:nvPr>
        </p:nvSpPr>
        <p:spPr>
          <a:xfrm>
            <a:off x="1167493" y="2003804"/>
            <a:ext cx="3173400" cy="522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23"/>
          <p:cNvSpPr txBox="1"/>
          <p:nvPr>
            <p:ph idx="4" type="body"/>
          </p:nvPr>
        </p:nvSpPr>
        <p:spPr>
          <a:xfrm>
            <a:off x="4683788" y="2003804"/>
            <a:ext cx="3173400" cy="522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23"/>
          <p:cNvSpPr txBox="1"/>
          <p:nvPr>
            <p:ph idx="5" type="body"/>
          </p:nvPr>
        </p:nvSpPr>
        <p:spPr>
          <a:xfrm>
            <a:off x="8200082" y="2526318"/>
            <a:ext cx="3173400" cy="2828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23"/>
          <p:cNvSpPr txBox="1"/>
          <p:nvPr>
            <p:ph idx="6" type="body"/>
          </p:nvPr>
        </p:nvSpPr>
        <p:spPr>
          <a:xfrm>
            <a:off x="8200083" y="2003804"/>
            <a:ext cx="3173400" cy="522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23"/>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131" name="Shape 131"/>
        <p:cNvGrpSpPr/>
        <p:nvPr/>
      </p:nvGrpSpPr>
      <p:grpSpPr>
        <a:xfrm>
          <a:off x="0" y="0"/>
          <a:ext cx="0" cy="0"/>
          <a:chOff x="0" y="0"/>
          <a:chExt cx="0" cy="0"/>
        </a:xfrm>
      </p:grpSpPr>
      <p:sp>
        <p:nvSpPr>
          <p:cNvPr id="132" name="Google Shape;132;p24"/>
          <p:cNvSpPr/>
          <p:nvPr/>
        </p:nvSpPr>
        <p:spPr>
          <a:xfrm>
            <a:off x="0" y="0"/>
            <a:ext cx="8025490" cy="6858000"/>
          </a:xfrm>
          <a:custGeom>
            <a:rect b="b" l="l" r="r" t="t"/>
            <a:pathLst>
              <a:path extrusionOk="0" h="6858000" w="802549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 name="Google Shape;133;p24"/>
          <p:cNvSpPr txBox="1"/>
          <p:nvPr>
            <p:ph type="ctrTitle"/>
          </p:nvPr>
        </p:nvSpPr>
        <p:spPr>
          <a:xfrm>
            <a:off x="1167494" y="1059400"/>
            <a:ext cx="6246000" cy="2387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b="1" sz="60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4"/>
          <p:cNvSpPr txBox="1"/>
          <p:nvPr>
            <p:ph idx="1" type="subTitle"/>
          </p:nvPr>
        </p:nvSpPr>
        <p:spPr>
          <a:xfrm>
            <a:off x="1167494" y="3539075"/>
            <a:ext cx="6246000" cy="1406100"/>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35" name="Google Shape;135;p24"/>
          <p:cNvGrpSpPr/>
          <p:nvPr/>
        </p:nvGrpSpPr>
        <p:grpSpPr>
          <a:xfrm rot="-5400000">
            <a:off x="8286519" y="2206706"/>
            <a:ext cx="3032446" cy="2443687"/>
            <a:chOff x="9857014" y="13834"/>
            <a:chExt cx="2334986" cy="1881641"/>
          </a:xfrm>
        </p:grpSpPr>
        <p:sp>
          <p:nvSpPr>
            <p:cNvPr id="136" name="Google Shape;136;p24"/>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7" name="Google Shape;137;p24"/>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38" name="Google Shape;138;p24"/>
          <p:cNvSpPr/>
          <p:nvPr/>
        </p:nvSpPr>
        <p:spPr>
          <a:xfrm flipH="1">
            <a:off x="8581528" y="1"/>
            <a:ext cx="3610472" cy="3610472"/>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9" name="Google Shape;139;p24"/>
          <p:cNvSpPr/>
          <p:nvPr/>
        </p:nvSpPr>
        <p:spPr>
          <a:xfrm flipH="1">
            <a:off x="8581528" y="3246896"/>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140" name="Shape 140"/>
        <p:cNvGrpSpPr/>
        <p:nvPr/>
      </p:nvGrpSpPr>
      <p:grpSpPr>
        <a:xfrm>
          <a:off x="0" y="0"/>
          <a:ext cx="0" cy="0"/>
          <a:chOff x="0" y="0"/>
          <a:chExt cx="0" cy="0"/>
        </a:xfrm>
      </p:grpSpPr>
      <p:sp>
        <p:nvSpPr>
          <p:cNvPr id="141" name="Google Shape;141;p25"/>
          <p:cNvSpPr txBox="1"/>
          <p:nvPr>
            <p:ph type="ctrTitle"/>
          </p:nvPr>
        </p:nvSpPr>
        <p:spPr>
          <a:xfrm>
            <a:off x="1167494" y="1122363"/>
            <a:ext cx="6220200" cy="2387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b="1"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5"/>
          <p:cNvSpPr txBox="1"/>
          <p:nvPr>
            <p:ph idx="1" type="subTitle"/>
          </p:nvPr>
        </p:nvSpPr>
        <p:spPr>
          <a:xfrm>
            <a:off x="1167493" y="3602038"/>
            <a:ext cx="6220200" cy="2247300"/>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2800"/>
              <a:buNone/>
              <a:defRPr sz="28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3" name="Google Shape;143;p25"/>
          <p:cNvSpPr/>
          <p:nvPr/>
        </p:nvSpPr>
        <p:spPr>
          <a:xfrm>
            <a:off x="8264426" y="0"/>
            <a:ext cx="39276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44" name="Google Shape;144;p25"/>
          <p:cNvGrpSpPr/>
          <p:nvPr/>
        </p:nvGrpSpPr>
        <p:grpSpPr>
          <a:xfrm>
            <a:off x="8264878" y="3685939"/>
            <a:ext cx="3927680" cy="3178844"/>
            <a:chOff x="9857014" y="13834"/>
            <a:chExt cx="2334986" cy="1881641"/>
          </a:xfrm>
        </p:grpSpPr>
        <p:sp>
          <p:nvSpPr>
            <p:cNvPr id="145" name="Google Shape;145;p25"/>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6" name="Google Shape;146;p25"/>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47" name="Google Shape;147;p25"/>
          <p:cNvSpPr/>
          <p:nvPr/>
        </p:nvSpPr>
        <p:spPr>
          <a:xfrm>
            <a:off x="0" y="-1"/>
            <a:ext cx="1166792" cy="1166792"/>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8" name="Google Shape;148;p25"/>
          <p:cNvSpPr/>
          <p:nvPr/>
        </p:nvSpPr>
        <p:spPr>
          <a:xfrm>
            <a:off x="10228214" y="-1"/>
            <a:ext cx="1963787" cy="3178856"/>
          </a:xfrm>
          <a:custGeom>
            <a:rect b="b" l="l" r="r" t="t"/>
            <a:pathLst>
              <a:path extrusionOk="0" h="3178856" w="1963787">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ole team">
  <p:cSld name="Whole team">
    <p:bg>
      <p:bgPr>
        <a:solidFill>
          <a:schemeClr val="accent2"/>
        </a:solidFill>
      </p:bgPr>
    </p:bg>
    <p:spTree>
      <p:nvGrpSpPr>
        <p:cNvPr id="149" name="Shape 149"/>
        <p:cNvGrpSpPr/>
        <p:nvPr/>
      </p:nvGrpSpPr>
      <p:grpSpPr>
        <a:xfrm>
          <a:off x="0" y="0"/>
          <a:ext cx="0" cy="0"/>
          <a:chOff x="0" y="0"/>
          <a:chExt cx="0" cy="0"/>
        </a:xfrm>
      </p:grpSpPr>
      <p:sp>
        <p:nvSpPr>
          <p:cNvPr id="150" name="Google Shape;150;p26"/>
          <p:cNvSpPr txBox="1"/>
          <p:nvPr>
            <p:ph type="title"/>
          </p:nvPr>
        </p:nvSpPr>
        <p:spPr>
          <a:xfrm>
            <a:off x="750430" y="381000"/>
            <a:ext cx="10678200" cy="1325700"/>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6"/>
          <p:cNvSpPr/>
          <p:nvPr>
            <p:ph idx="2" type="pic"/>
          </p:nvPr>
        </p:nvSpPr>
        <p:spPr>
          <a:xfrm>
            <a:off x="750429" y="2068734"/>
            <a:ext cx="905100" cy="905700"/>
          </a:xfrm>
          <a:prstGeom prst="rect">
            <a:avLst/>
          </a:prstGeom>
          <a:noFill/>
          <a:ln>
            <a:noFill/>
          </a:ln>
        </p:spPr>
      </p:sp>
      <p:sp>
        <p:nvSpPr>
          <p:cNvPr id="152" name="Google Shape;152;p26"/>
          <p:cNvSpPr txBox="1"/>
          <p:nvPr>
            <p:ph idx="1" type="body"/>
          </p:nvPr>
        </p:nvSpPr>
        <p:spPr>
          <a:xfrm>
            <a:off x="750430" y="2994545"/>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26"/>
          <p:cNvSpPr txBox="1"/>
          <p:nvPr>
            <p:ph idx="3" type="body"/>
          </p:nvPr>
        </p:nvSpPr>
        <p:spPr>
          <a:xfrm>
            <a:off x="750429" y="3379791"/>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26"/>
          <p:cNvSpPr/>
          <p:nvPr>
            <p:ph idx="4" type="pic"/>
          </p:nvPr>
        </p:nvSpPr>
        <p:spPr>
          <a:xfrm>
            <a:off x="3549397" y="2068734"/>
            <a:ext cx="905100" cy="905700"/>
          </a:xfrm>
          <a:prstGeom prst="rect">
            <a:avLst/>
          </a:prstGeom>
          <a:noFill/>
          <a:ln>
            <a:noFill/>
          </a:ln>
        </p:spPr>
      </p:sp>
      <p:sp>
        <p:nvSpPr>
          <p:cNvPr id="155" name="Google Shape;155;p26"/>
          <p:cNvSpPr txBox="1"/>
          <p:nvPr>
            <p:ph idx="5" type="body"/>
          </p:nvPr>
        </p:nvSpPr>
        <p:spPr>
          <a:xfrm>
            <a:off x="3549398" y="2994545"/>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26"/>
          <p:cNvSpPr txBox="1"/>
          <p:nvPr>
            <p:ph idx="6" type="body"/>
          </p:nvPr>
        </p:nvSpPr>
        <p:spPr>
          <a:xfrm>
            <a:off x="3549397" y="3379791"/>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26"/>
          <p:cNvSpPr/>
          <p:nvPr>
            <p:ph idx="7" type="pic"/>
          </p:nvPr>
        </p:nvSpPr>
        <p:spPr>
          <a:xfrm>
            <a:off x="6348367" y="2068734"/>
            <a:ext cx="905100" cy="905700"/>
          </a:xfrm>
          <a:prstGeom prst="rect">
            <a:avLst/>
          </a:prstGeom>
          <a:noFill/>
          <a:ln>
            <a:noFill/>
          </a:ln>
        </p:spPr>
      </p:sp>
      <p:sp>
        <p:nvSpPr>
          <p:cNvPr id="158" name="Google Shape;158;p26"/>
          <p:cNvSpPr txBox="1"/>
          <p:nvPr>
            <p:ph idx="8" type="body"/>
          </p:nvPr>
        </p:nvSpPr>
        <p:spPr>
          <a:xfrm>
            <a:off x="6348368" y="2994545"/>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26"/>
          <p:cNvSpPr txBox="1"/>
          <p:nvPr>
            <p:ph idx="9" type="body"/>
          </p:nvPr>
        </p:nvSpPr>
        <p:spPr>
          <a:xfrm>
            <a:off x="6348367" y="3379791"/>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26"/>
          <p:cNvSpPr/>
          <p:nvPr>
            <p:ph idx="13" type="pic"/>
          </p:nvPr>
        </p:nvSpPr>
        <p:spPr>
          <a:xfrm>
            <a:off x="9147335" y="2068734"/>
            <a:ext cx="905100" cy="905700"/>
          </a:xfrm>
          <a:prstGeom prst="rect">
            <a:avLst/>
          </a:prstGeom>
          <a:noFill/>
          <a:ln>
            <a:noFill/>
          </a:ln>
        </p:spPr>
      </p:sp>
      <p:sp>
        <p:nvSpPr>
          <p:cNvPr id="161" name="Google Shape;161;p26"/>
          <p:cNvSpPr txBox="1"/>
          <p:nvPr>
            <p:ph idx="14" type="body"/>
          </p:nvPr>
        </p:nvSpPr>
        <p:spPr>
          <a:xfrm>
            <a:off x="9147336" y="2994545"/>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26"/>
          <p:cNvSpPr txBox="1"/>
          <p:nvPr>
            <p:ph idx="15" type="body"/>
          </p:nvPr>
        </p:nvSpPr>
        <p:spPr>
          <a:xfrm>
            <a:off x="9147335" y="3379791"/>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26"/>
          <p:cNvSpPr/>
          <p:nvPr>
            <p:ph idx="16" type="pic"/>
          </p:nvPr>
        </p:nvSpPr>
        <p:spPr>
          <a:xfrm>
            <a:off x="750429" y="4118551"/>
            <a:ext cx="905100" cy="905700"/>
          </a:xfrm>
          <a:prstGeom prst="rect">
            <a:avLst/>
          </a:prstGeom>
          <a:noFill/>
          <a:ln>
            <a:noFill/>
          </a:ln>
        </p:spPr>
      </p:sp>
      <p:sp>
        <p:nvSpPr>
          <p:cNvPr id="164" name="Google Shape;164;p26"/>
          <p:cNvSpPr txBox="1"/>
          <p:nvPr>
            <p:ph idx="17" type="body"/>
          </p:nvPr>
        </p:nvSpPr>
        <p:spPr>
          <a:xfrm>
            <a:off x="750430" y="5044362"/>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26"/>
          <p:cNvSpPr txBox="1"/>
          <p:nvPr>
            <p:ph idx="18" type="body"/>
          </p:nvPr>
        </p:nvSpPr>
        <p:spPr>
          <a:xfrm>
            <a:off x="750429" y="5429608"/>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26"/>
          <p:cNvSpPr/>
          <p:nvPr>
            <p:ph idx="19" type="pic"/>
          </p:nvPr>
        </p:nvSpPr>
        <p:spPr>
          <a:xfrm>
            <a:off x="3549397" y="4118551"/>
            <a:ext cx="905100" cy="905700"/>
          </a:xfrm>
          <a:prstGeom prst="rect">
            <a:avLst/>
          </a:prstGeom>
          <a:noFill/>
          <a:ln>
            <a:noFill/>
          </a:ln>
        </p:spPr>
      </p:sp>
      <p:sp>
        <p:nvSpPr>
          <p:cNvPr id="167" name="Google Shape;167;p26"/>
          <p:cNvSpPr txBox="1"/>
          <p:nvPr>
            <p:ph idx="20" type="body"/>
          </p:nvPr>
        </p:nvSpPr>
        <p:spPr>
          <a:xfrm>
            <a:off x="3549398" y="5044362"/>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26"/>
          <p:cNvSpPr txBox="1"/>
          <p:nvPr>
            <p:ph idx="21" type="body"/>
          </p:nvPr>
        </p:nvSpPr>
        <p:spPr>
          <a:xfrm>
            <a:off x="3549397" y="5429608"/>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26"/>
          <p:cNvSpPr/>
          <p:nvPr>
            <p:ph idx="22" type="pic"/>
          </p:nvPr>
        </p:nvSpPr>
        <p:spPr>
          <a:xfrm>
            <a:off x="6348367" y="4118551"/>
            <a:ext cx="905100" cy="905700"/>
          </a:xfrm>
          <a:prstGeom prst="rect">
            <a:avLst/>
          </a:prstGeom>
          <a:noFill/>
          <a:ln>
            <a:noFill/>
          </a:ln>
        </p:spPr>
      </p:sp>
      <p:sp>
        <p:nvSpPr>
          <p:cNvPr id="170" name="Google Shape;170;p26"/>
          <p:cNvSpPr txBox="1"/>
          <p:nvPr>
            <p:ph idx="23" type="body"/>
          </p:nvPr>
        </p:nvSpPr>
        <p:spPr>
          <a:xfrm>
            <a:off x="6348368" y="5044362"/>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26"/>
          <p:cNvSpPr txBox="1"/>
          <p:nvPr>
            <p:ph idx="24" type="body"/>
          </p:nvPr>
        </p:nvSpPr>
        <p:spPr>
          <a:xfrm>
            <a:off x="6348367" y="5429608"/>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26"/>
          <p:cNvSpPr/>
          <p:nvPr>
            <p:ph idx="25" type="pic"/>
          </p:nvPr>
        </p:nvSpPr>
        <p:spPr>
          <a:xfrm>
            <a:off x="9147335" y="4118551"/>
            <a:ext cx="905100" cy="905700"/>
          </a:xfrm>
          <a:prstGeom prst="rect">
            <a:avLst/>
          </a:prstGeom>
          <a:noFill/>
          <a:ln>
            <a:noFill/>
          </a:ln>
        </p:spPr>
      </p:sp>
      <p:sp>
        <p:nvSpPr>
          <p:cNvPr id="173" name="Google Shape;173;p26"/>
          <p:cNvSpPr txBox="1"/>
          <p:nvPr>
            <p:ph idx="26" type="body"/>
          </p:nvPr>
        </p:nvSpPr>
        <p:spPr>
          <a:xfrm>
            <a:off x="9147336" y="5044362"/>
            <a:ext cx="2281200" cy="347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26"/>
          <p:cNvSpPr txBox="1"/>
          <p:nvPr>
            <p:ph idx="27" type="body"/>
          </p:nvPr>
        </p:nvSpPr>
        <p:spPr>
          <a:xfrm>
            <a:off x="9147335" y="5429608"/>
            <a:ext cx="2281200" cy="3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26"/>
          <p:cNvSpPr txBox="1"/>
          <p:nvPr>
            <p:ph idx="10" type="dt"/>
          </p:nvPr>
        </p:nvSpPr>
        <p:spPr>
          <a:xfrm>
            <a:off x="3810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26"/>
          <p:cNvSpPr txBox="1"/>
          <p:nvPr>
            <p:ph idx="12" type="sldNum"/>
          </p:nvPr>
        </p:nvSpPr>
        <p:spPr>
          <a:xfrm>
            <a:off x="90678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bg>
      <p:bgPr>
        <a:solidFill>
          <a:schemeClr val="accent1"/>
        </a:solidFill>
      </p:bgPr>
    </p:bg>
    <p:spTree>
      <p:nvGrpSpPr>
        <p:cNvPr id="178" name="Shape 178"/>
        <p:cNvGrpSpPr/>
        <p:nvPr/>
      </p:nvGrpSpPr>
      <p:grpSpPr>
        <a:xfrm>
          <a:off x="0" y="0"/>
          <a:ext cx="0" cy="0"/>
          <a:chOff x="0" y="0"/>
          <a:chExt cx="0" cy="0"/>
        </a:xfrm>
      </p:grpSpPr>
      <p:sp>
        <p:nvSpPr>
          <p:cNvPr id="179" name="Google Shape;179;p27"/>
          <p:cNvSpPr/>
          <p:nvPr/>
        </p:nvSpPr>
        <p:spPr>
          <a:xfrm flipH="1">
            <a:off x="8581528" y="1"/>
            <a:ext cx="3610472" cy="3610472"/>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0" name="Google Shape;180;p27"/>
          <p:cNvSpPr/>
          <p:nvPr/>
        </p:nvSpPr>
        <p:spPr>
          <a:xfrm flipH="1" rot="5400000">
            <a:off x="633" y="3247528"/>
            <a:ext cx="3610472" cy="3610472"/>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1" name="Google Shape;181;p27"/>
          <p:cNvSpPr txBox="1"/>
          <p:nvPr>
            <p:ph type="title"/>
          </p:nvPr>
        </p:nvSpPr>
        <p:spPr>
          <a:xfrm>
            <a:off x="1167492" y="381000"/>
            <a:ext cx="9779100" cy="13257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Arial"/>
              <a:buNone/>
              <a:defRPr b="1" sz="4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27"/>
          <p:cNvSpPr txBox="1"/>
          <p:nvPr>
            <p:ph idx="1" type="body"/>
          </p:nvPr>
        </p:nvSpPr>
        <p:spPr>
          <a:xfrm>
            <a:off x="1167493" y="2087561"/>
            <a:ext cx="9779100" cy="3366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400"/>
              <a:buNone/>
              <a:defRPr>
                <a:solidFill>
                  <a:schemeClr val="lt1"/>
                </a:solidFill>
                <a:latin typeface="Arial"/>
                <a:ea typeface="Arial"/>
                <a:cs typeface="Arial"/>
                <a:sym typeface="Arial"/>
              </a:defRPr>
            </a:lvl2pPr>
            <a:lvl3pPr indent="-228600" lvl="2" marL="1371600" algn="l">
              <a:lnSpc>
                <a:spcPct val="90000"/>
              </a:lnSpc>
              <a:spcBef>
                <a:spcPts val="500"/>
              </a:spcBef>
              <a:spcAft>
                <a:spcPts val="0"/>
              </a:spcAft>
              <a:buClr>
                <a:schemeClr val="lt1"/>
              </a:buClr>
              <a:buSzPts val="2000"/>
              <a:buNone/>
              <a:defRPr>
                <a:solidFill>
                  <a:schemeClr val="lt1"/>
                </a:solidFill>
                <a:latin typeface="Arial"/>
                <a:ea typeface="Arial"/>
                <a:cs typeface="Arial"/>
                <a:sym typeface="Arial"/>
              </a:defRPr>
            </a:lvl3pPr>
            <a:lvl4pPr indent="-228600" lvl="3" marL="1828800" algn="l">
              <a:lnSpc>
                <a:spcPct val="90000"/>
              </a:lnSpc>
              <a:spcBef>
                <a:spcPts val="500"/>
              </a:spcBef>
              <a:spcAft>
                <a:spcPts val="0"/>
              </a:spcAft>
              <a:buClr>
                <a:schemeClr val="lt1"/>
              </a:buClr>
              <a:buSzPts val="1800"/>
              <a:buNone/>
              <a:defRPr>
                <a:solidFill>
                  <a:schemeClr val="lt1"/>
                </a:solidFill>
                <a:latin typeface="Arial"/>
                <a:ea typeface="Arial"/>
                <a:cs typeface="Arial"/>
                <a:sym typeface="Arial"/>
              </a:defRPr>
            </a:lvl4pPr>
            <a:lvl5pPr indent="-228600" lvl="4" marL="2286000" algn="l">
              <a:lnSpc>
                <a:spcPct val="90000"/>
              </a:lnSpc>
              <a:spcBef>
                <a:spcPts val="500"/>
              </a:spcBef>
              <a:spcAft>
                <a:spcPts val="0"/>
              </a:spcAft>
              <a:buClr>
                <a:schemeClr val="lt1"/>
              </a:buClr>
              <a:buSzPts val="1800"/>
              <a:buNone/>
              <a:defRPr>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27"/>
          <p:cNvSpPr txBox="1"/>
          <p:nvPr>
            <p:ph idx="10" type="dt"/>
          </p:nvPr>
        </p:nvSpPr>
        <p:spPr>
          <a:xfrm>
            <a:off x="381000" y="6356350"/>
            <a:ext cx="17010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accent3"/>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accen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27"/>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381000" y="381000"/>
            <a:ext cx="11430000" cy="13257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381000" y="1825625"/>
            <a:ext cx="114300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4"/>
          <p:cNvSpPr txBox="1"/>
          <p:nvPr>
            <p:ph idx="10" type="dt"/>
          </p:nvPr>
        </p:nvSpPr>
        <p:spPr>
          <a:xfrm>
            <a:off x="3810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4"/>
          <p:cNvSpPr txBox="1"/>
          <p:nvPr>
            <p:ph idx="12" type="sldNum"/>
          </p:nvPr>
        </p:nvSpPr>
        <p:spPr>
          <a:xfrm>
            <a:off x="90678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hyperlink" Target="http://www.tutorialspoint.com/sdlc/sdlc_iterative_model.htm" TargetMode="External"/><Relationship Id="rId4" Type="http://schemas.openxmlformats.org/officeDocument/2006/relationships/hyperlink" Target="http://www.tutorialspoint.com/sdlc/sdlc_iterative_model.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
          <p:cNvSpPr/>
          <p:nvPr/>
        </p:nvSpPr>
        <p:spPr>
          <a:xfrm>
            <a:off x="0" y="-222250"/>
            <a:ext cx="12192000" cy="708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txBox="1"/>
          <p:nvPr>
            <p:ph type="ctrTitle"/>
          </p:nvPr>
        </p:nvSpPr>
        <p:spPr>
          <a:xfrm>
            <a:off x="679269" y="1122363"/>
            <a:ext cx="7585157" cy="23876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202122"/>
              </a:buClr>
              <a:buSzPts val="3400"/>
              <a:buFont typeface="Lato"/>
              <a:buNone/>
            </a:pPr>
            <a:r>
              <a:rPr i="0" lang="en-US" sz="3400">
                <a:solidFill>
                  <a:srgbClr val="202122"/>
                </a:solidFill>
                <a:latin typeface="Lato"/>
                <a:ea typeface="Lato"/>
                <a:cs typeface="Lato"/>
                <a:sym typeface="Lato"/>
              </a:rPr>
              <a:t>7-1 Final Project: Agile Presentation</a:t>
            </a:r>
            <a:endParaRPr sz="3400"/>
          </a:p>
        </p:txBody>
      </p:sp>
      <p:sp>
        <p:nvSpPr>
          <p:cNvPr id="192" name="Google Shape;192;p1"/>
          <p:cNvSpPr txBox="1"/>
          <p:nvPr>
            <p:ph idx="1" type="subTitle"/>
          </p:nvPr>
        </p:nvSpPr>
        <p:spPr>
          <a:xfrm>
            <a:off x="679269" y="3615101"/>
            <a:ext cx="9500507" cy="806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Ahmed Ahmed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
          <p:cNvSpPr/>
          <p:nvPr/>
        </p:nvSpPr>
        <p:spPr>
          <a:xfrm>
            <a:off x="0" y="0"/>
            <a:ext cx="12192000" cy="720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Agenda</a:t>
            </a:r>
            <a:endParaRPr/>
          </a:p>
        </p:txBody>
      </p:sp>
      <p:sp>
        <p:nvSpPr>
          <p:cNvPr id="199" name="Google Shape;199;p2"/>
          <p:cNvSpPr txBox="1"/>
          <p:nvPr>
            <p:ph idx="1" type="body"/>
          </p:nvPr>
        </p:nvSpPr>
        <p:spPr>
          <a:xfrm>
            <a:off x="1167493" y="2017467"/>
            <a:ext cx="9779182" cy="3366815"/>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rmAutofit/>
          </a:bodyPr>
          <a:lstStyle/>
          <a:p>
            <a:pPr indent="-406400" lvl="0" marL="457200" rtl="0" algn="l">
              <a:lnSpc>
                <a:spcPct val="90000"/>
              </a:lnSpc>
              <a:spcBef>
                <a:spcPts val="0"/>
              </a:spcBef>
              <a:spcAft>
                <a:spcPts val="0"/>
              </a:spcAft>
              <a:buSzPts val="2800"/>
              <a:buAutoNum type="arabicPeriod"/>
            </a:pPr>
            <a:r>
              <a:rPr lang="en-US"/>
              <a:t>Introduction</a:t>
            </a:r>
            <a:endParaRPr/>
          </a:p>
          <a:p>
            <a:pPr indent="-406400" lvl="0" marL="457200" rtl="0" algn="l">
              <a:lnSpc>
                <a:spcPct val="90000"/>
              </a:lnSpc>
              <a:spcBef>
                <a:spcPts val="0"/>
              </a:spcBef>
              <a:spcAft>
                <a:spcPts val="0"/>
              </a:spcAft>
              <a:buSzPts val="2800"/>
              <a:buAutoNum type="arabicPeriod"/>
            </a:pPr>
            <a:r>
              <a:rPr lang="en-US"/>
              <a:t>Roles on a Scrum- Team</a:t>
            </a:r>
            <a:endParaRPr/>
          </a:p>
          <a:p>
            <a:pPr indent="-406400" lvl="0" marL="457200" rtl="0" algn="l">
              <a:lnSpc>
                <a:spcPct val="90000"/>
              </a:lnSpc>
              <a:spcBef>
                <a:spcPts val="0"/>
              </a:spcBef>
              <a:spcAft>
                <a:spcPts val="0"/>
              </a:spcAft>
              <a:buSzPts val="2800"/>
              <a:buAutoNum type="arabicPeriod"/>
            </a:pPr>
            <a:r>
              <a:rPr lang="en-US"/>
              <a:t>Phases of the SDLC agile  Approach</a:t>
            </a:r>
            <a:endParaRPr/>
          </a:p>
          <a:p>
            <a:pPr indent="-406400" lvl="0" marL="457200" rtl="0" algn="l">
              <a:lnSpc>
                <a:spcPct val="90000"/>
              </a:lnSpc>
              <a:spcBef>
                <a:spcPts val="0"/>
              </a:spcBef>
              <a:spcAft>
                <a:spcPts val="0"/>
              </a:spcAft>
              <a:buSzPts val="2800"/>
              <a:buAutoNum type="arabicPeriod"/>
            </a:pPr>
            <a:r>
              <a:rPr lang="en-US" sz="2800"/>
              <a:t>Phases of the SDLC in the Waterfall Approach</a:t>
            </a:r>
            <a:endParaRPr/>
          </a:p>
          <a:p>
            <a:pPr indent="-406400" lvl="0" marL="457200" rtl="0" algn="l">
              <a:lnSpc>
                <a:spcPct val="90000"/>
              </a:lnSpc>
              <a:spcBef>
                <a:spcPts val="0"/>
              </a:spcBef>
              <a:spcAft>
                <a:spcPts val="0"/>
              </a:spcAft>
              <a:buSzPts val="2800"/>
              <a:buAutoNum type="arabicPeriod"/>
            </a:pPr>
            <a:r>
              <a:rPr lang="en-US"/>
              <a:t>Significant criteria Waterfall or Agile </a:t>
            </a:r>
            <a:endParaRPr/>
          </a:p>
          <a:p>
            <a:pPr indent="-457200" lvl="0" marL="457200" rtl="0" algn="l">
              <a:lnSpc>
                <a:spcPct val="90000"/>
              </a:lnSpc>
              <a:spcBef>
                <a:spcPts val="1000"/>
              </a:spcBef>
              <a:spcAft>
                <a:spcPts val="0"/>
              </a:spcAft>
              <a:buClr>
                <a:schemeClr val="dk1"/>
              </a:buClr>
              <a:buSzPts val="2800"/>
              <a:buFont typeface="Arial"/>
              <a:buChar char="•"/>
            </a:pPr>
            <a:r>
              <a:rPr lang="en-US"/>
              <a:t>Summary</a:t>
            </a:r>
            <a:endParaRPr/>
          </a:p>
          <a:p>
            <a:pPr indent="0" lvl="0" marL="0" rtl="0" algn="l">
              <a:lnSpc>
                <a:spcPct val="90000"/>
              </a:lnSpc>
              <a:spcBef>
                <a:spcPts val="1000"/>
              </a:spcBef>
              <a:spcAft>
                <a:spcPts val="0"/>
              </a:spcAft>
              <a:buClr>
                <a:schemeClr val="dk1"/>
              </a:buClr>
              <a:buSzPts val="2800"/>
              <a:buNone/>
            </a:pPr>
            <a:r>
              <a:t/>
            </a:r>
            <a:endParaRPr/>
          </a:p>
        </p:txBody>
      </p:sp>
      <p:sp>
        <p:nvSpPr>
          <p:cNvPr id="200" name="Google Shape;20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Agile Presentation</a:t>
            </a:r>
            <a:endParaRPr/>
          </a:p>
        </p:txBody>
      </p:sp>
      <p:sp>
        <p:nvSpPr>
          <p:cNvPr id="201" name="Google Shape;201;p2"/>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
          <p:cNvSpPr/>
          <p:nvPr/>
        </p:nvSpPr>
        <p:spPr>
          <a:xfrm>
            <a:off x="0" y="0"/>
            <a:ext cx="12192000" cy="265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Introduction</a:t>
            </a:r>
            <a:endParaRPr/>
          </a:p>
        </p:txBody>
      </p:sp>
      <p:sp>
        <p:nvSpPr>
          <p:cNvPr id="208" name="Google Shape;208;p3"/>
          <p:cNvSpPr txBox="1"/>
          <p:nvPr>
            <p:ph idx="1" type="body"/>
          </p:nvPr>
        </p:nvSpPr>
        <p:spPr>
          <a:xfrm>
            <a:off x="1015904" y="2786530"/>
            <a:ext cx="9779100" cy="3436500"/>
          </a:xfrm>
          <a:prstGeom prst="rect">
            <a:avLst/>
          </a:prstGeom>
          <a:noFill/>
          <a:ln>
            <a:noFill/>
          </a:ln>
        </p:spPr>
        <p:txBody>
          <a:bodyPr anchorCtr="0" anchor="t" bIns="45700" lIns="91425" spcFirstLastPara="1" rIns="91425" wrap="square" tIns="45700">
            <a:normAutofit fontScale="85000"/>
          </a:bodyPr>
          <a:lstStyle/>
          <a:p>
            <a:pPr indent="0" lvl="0" marL="0" rtl="0" algn="l">
              <a:lnSpc>
                <a:spcPct val="150000"/>
              </a:lnSpc>
              <a:spcBef>
                <a:spcPts val="0"/>
              </a:spcBef>
              <a:spcAft>
                <a:spcPts val="0"/>
              </a:spcAft>
              <a:buClr>
                <a:schemeClr val="lt1"/>
              </a:buClr>
              <a:buSzPct val="100000"/>
              <a:buNone/>
            </a:pPr>
            <a:r>
              <a:rPr lang="en-US"/>
              <a:t>Scrum is one of the most widely adopted frameworks within the Agile methodology, designed to help development teams deliver high-quality software through iterative cycles. At its core, Scrum emphasizes collaboration, adaptability, and transparency, enabling teams to respond effectively to changing requirements. A Scrum team is composed of cross-functional members who work collectively to produce a potentially releasable product increment at the end of each sprint, which typically spans two to four weeks.</a:t>
            </a:r>
            <a:endParaRPr/>
          </a:p>
        </p:txBody>
      </p:sp>
      <p:sp>
        <p:nvSpPr>
          <p:cNvPr id="209" name="Google Shape;20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Agile Presentation</a:t>
            </a:r>
            <a:endParaRPr/>
          </a:p>
        </p:txBody>
      </p:sp>
      <p:sp>
        <p:nvSpPr>
          <p:cNvPr id="210" name="Google Shape;210;p3"/>
          <p:cNvSpPr txBox="1"/>
          <p:nvPr>
            <p:ph idx="12" type="sldNum"/>
          </p:nvPr>
        </p:nvSpPr>
        <p:spPr>
          <a:xfrm>
            <a:off x="10206318" y="6356350"/>
            <a:ext cx="1604682"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
          <p:cNvSpPr txBox="1"/>
          <p:nvPr>
            <p:ph type="title"/>
          </p:nvPr>
        </p:nvSpPr>
        <p:spPr>
          <a:xfrm>
            <a:off x="1798721" y="1684338"/>
            <a:ext cx="8594700" cy="2810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4600"/>
              <a:buNone/>
            </a:pPr>
            <a:r>
              <a:rPr lang="en-US"/>
              <a:t>ROLES ON A SCRUM TEAM</a:t>
            </a:r>
            <a:endParaRPr/>
          </a:p>
        </p:txBody>
      </p:sp>
      <p:sp>
        <p:nvSpPr>
          <p:cNvPr id="217" name="Google Shape;217;p4"/>
          <p:cNvSpPr txBox="1"/>
          <p:nvPr>
            <p:ph idx="12" type="sldNum"/>
          </p:nvPr>
        </p:nvSpPr>
        <p:spPr>
          <a:xfrm>
            <a:off x="90678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5"/>
          <p:cNvSpPr/>
          <p:nvPr/>
        </p:nvSpPr>
        <p:spPr>
          <a:xfrm rot="5399787">
            <a:off x="1382899" y="-2836400"/>
            <a:ext cx="9699600" cy="12747300"/>
          </a:xfrm>
          <a:prstGeom prst="mathMinus">
            <a:avLst>
              <a:gd fmla="val 10000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
          <p:cNvSpPr/>
          <p:nvPr/>
        </p:nvSpPr>
        <p:spPr>
          <a:xfrm>
            <a:off x="1293674" y="1084725"/>
            <a:ext cx="8401500" cy="551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5"/>
          <p:cNvSpPr txBox="1"/>
          <p:nvPr>
            <p:ph type="title"/>
          </p:nvPr>
        </p:nvSpPr>
        <p:spPr>
          <a:xfrm>
            <a:off x="104496" y="-281778"/>
            <a:ext cx="8401500" cy="1325700"/>
          </a:xfrm>
          <a:prstGeom prst="rect">
            <a:avLst/>
          </a:prstGeom>
          <a:noFill/>
          <a:ln>
            <a:noFill/>
          </a:ln>
        </p:spPr>
        <p:txBody>
          <a:bodyPr anchorCtr="0" anchor="b" bIns="45700" lIns="0"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Scrum Team</a:t>
            </a:r>
            <a:endParaRPr/>
          </a:p>
        </p:txBody>
      </p:sp>
      <p:sp>
        <p:nvSpPr>
          <p:cNvPr id="225" name="Google Shape;225;p5"/>
          <p:cNvSpPr txBox="1"/>
          <p:nvPr>
            <p:ph idx="1" type="body"/>
          </p:nvPr>
        </p:nvSpPr>
        <p:spPr>
          <a:xfrm>
            <a:off x="2055944" y="1616052"/>
            <a:ext cx="2281237" cy="34766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a:t>Product Owner</a:t>
            </a:r>
            <a:endParaRPr/>
          </a:p>
        </p:txBody>
      </p:sp>
      <p:sp>
        <p:nvSpPr>
          <p:cNvPr id="226" name="Google Shape;226;p5"/>
          <p:cNvSpPr txBox="1"/>
          <p:nvPr>
            <p:ph idx="3" type="body"/>
          </p:nvPr>
        </p:nvSpPr>
        <p:spPr>
          <a:xfrm>
            <a:off x="2055944" y="1963714"/>
            <a:ext cx="7623629" cy="125602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None/>
            </a:pPr>
            <a:r>
              <a:rPr lang="en-US" sz="1200"/>
              <a:t>As the Product Owner, your primary responsibilities are representing the customer and guiding the product vision's development. You'll manage the Product Backlog and decide which enhancements, features, and bug fixes to prioritize throughout the product development process. Communicating and refining the items on the Product Backlog transparently is essential, maximizing the value of the development team's work and maintaining transparency throughout the process (Cobb, 2015, p. 33).</a:t>
            </a:r>
            <a:endParaRPr/>
          </a:p>
        </p:txBody>
      </p:sp>
      <p:sp>
        <p:nvSpPr>
          <p:cNvPr id="227" name="Google Shape;227;p5"/>
          <p:cNvSpPr txBox="1"/>
          <p:nvPr>
            <p:ph idx="5" type="body"/>
          </p:nvPr>
        </p:nvSpPr>
        <p:spPr>
          <a:xfrm>
            <a:off x="2055942" y="4995858"/>
            <a:ext cx="2281238" cy="34766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a:t>Scrum Master</a:t>
            </a:r>
            <a:endParaRPr/>
          </a:p>
        </p:txBody>
      </p:sp>
      <p:sp>
        <p:nvSpPr>
          <p:cNvPr id="228" name="Google Shape;228;p5"/>
          <p:cNvSpPr txBox="1"/>
          <p:nvPr>
            <p:ph idx="6" type="body"/>
          </p:nvPr>
        </p:nvSpPr>
        <p:spPr>
          <a:xfrm>
            <a:off x="2055942" y="5343520"/>
            <a:ext cx="7179600" cy="125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None/>
            </a:pPr>
            <a:r>
              <a:rPr lang="en-US" sz="1200"/>
              <a:t>As the Scrum Master, you oversee the Scrum process, ensuring that the team follows its principles and agreed-upon practices. You will help to facilitate communication, collaboration, and conflict resolution within the team. Your primary responsibilities will include ensuring that the team adheres to Scrum principles and practices, coaching and organizing Scrum adoption and facilitating Scrum events to ensure maximum productivity (Cobb, 2015, pp. 36-37).</a:t>
            </a:r>
            <a:endParaRPr/>
          </a:p>
        </p:txBody>
      </p:sp>
      <p:sp>
        <p:nvSpPr>
          <p:cNvPr id="229" name="Google Shape;229;p5"/>
          <p:cNvSpPr txBox="1"/>
          <p:nvPr>
            <p:ph idx="8" type="body"/>
          </p:nvPr>
        </p:nvSpPr>
        <p:spPr>
          <a:xfrm>
            <a:off x="2055943" y="3363418"/>
            <a:ext cx="2281237" cy="34766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a:t>Development Team</a:t>
            </a:r>
            <a:endParaRPr/>
          </a:p>
        </p:txBody>
      </p:sp>
      <p:sp>
        <p:nvSpPr>
          <p:cNvPr id="230" name="Google Shape;230;p5"/>
          <p:cNvSpPr txBox="1"/>
          <p:nvPr>
            <p:ph idx="9" type="body"/>
          </p:nvPr>
        </p:nvSpPr>
        <p:spPr>
          <a:xfrm>
            <a:off x="2055943" y="3702834"/>
            <a:ext cx="7623628" cy="12560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None/>
            </a:pPr>
            <a:r>
              <a:rPr lang="en-US" sz="1200"/>
              <a:t>The Development team is the driving force behind software development. Development teams are comprised of individuals with diverse skill sets; the development team is focused on delivering a minimum viable product increment at the end of each sprint. The key responsibilities of a development team are collaboratively developing and providing potentially releasable increments, managing the technical aspects of a development project, and maintaining high quality through continuous improvement (Cobb, 2015, pp. 38-39).</a:t>
            </a:r>
            <a:endParaRPr/>
          </a:p>
        </p:txBody>
      </p:sp>
      <p:sp>
        <p:nvSpPr>
          <p:cNvPr id="231" name="Google Shape;231;p5"/>
          <p:cNvSpPr txBox="1"/>
          <p:nvPr>
            <p:ph idx="12" type="sldNum"/>
          </p:nvPr>
        </p:nvSpPr>
        <p:spPr>
          <a:xfrm>
            <a:off x="8332334" y="6356350"/>
            <a:ext cx="116749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6"/>
          <p:cNvSpPr txBox="1"/>
          <p:nvPr>
            <p:ph type="title"/>
          </p:nvPr>
        </p:nvSpPr>
        <p:spPr>
          <a:xfrm>
            <a:off x="1206450" y="1365250"/>
            <a:ext cx="10239300" cy="33894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5400"/>
              <a:buFont typeface="Arial"/>
              <a:buNone/>
            </a:pPr>
            <a:r>
              <a:rPr lang="en-US" sz="5400"/>
              <a:t>Phases of the SDLC in the Agile Approach</a:t>
            </a:r>
            <a:endParaRPr/>
          </a:p>
        </p:txBody>
      </p:sp>
      <p:sp>
        <p:nvSpPr>
          <p:cNvPr id="238" name="Google Shape;238;p6"/>
          <p:cNvSpPr txBox="1"/>
          <p:nvPr>
            <p:ph idx="12" type="sldNum"/>
          </p:nvPr>
        </p:nvSpPr>
        <p:spPr>
          <a:xfrm>
            <a:off x="10153276" y="6356350"/>
            <a:ext cx="165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7"/>
          <p:cNvSpPr/>
          <p:nvPr/>
        </p:nvSpPr>
        <p:spPr>
          <a:xfrm>
            <a:off x="0" y="0"/>
            <a:ext cx="12620100" cy="685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7"/>
          <p:cNvSpPr txBox="1"/>
          <p:nvPr>
            <p:ph type="title"/>
          </p:nvPr>
        </p:nvSpPr>
        <p:spPr>
          <a:xfrm>
            <a:off x="1062989" y="-243912"/>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Arial"/>
              <a:buNone/>
            </a:pPr>
            <a:r>
              <a:rPr lang="en-US" sz="3200"/>
              <a:t>Phases of the SDLC in the Agile Approach</a:t>
            </a:r>
            <a:endParaRPr/>
          </a:p>
        </p:txBody>
      </p:sp>
      <p:sp>
        <p:nvSpPr>
          <p:cNvPr id="245" name="Google Shape;245;p7"/>
          <p:cNvSpPr txBox="1"/>
          <p:nvPr>
            <p:ph idx="3" type="body"/>
          </p:nvPr>
        </p:nvSpPr>
        <p:spPr>
          <a:xfrm>
            <a:off x="1004207" y="1461996"/>
            <a:ext cx="4663440" cy="36489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en-US" sz="2000"/>
              <a:t>Iterative SDLC Phases</a:t>
            </a:r>
            <a:endParaRPr/>
          </a:p>
        </p:txBody>
      </p:sp>
      <p:sp>
        <p:nvSpPr>
          <p:cNvPr id="246" name="Google Shape;246;p7"/>
          <p:cNvSpPr txBox="1"/>
          <p:nvPr>
            <p:ph idx="1" type="body"/>
          </p:nvPr>
        </p:nvSpPr>
        <p:spPr>
          <a:xfrm>
            <a:off x="1004200" y="1959423"/>
            <a:ext cx="5035800" cy="421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rPr lang="en-US" sz="1600"/>
              <a:t>The Software Development Life Cycle (SDLC) serves as a structured framework that outlines the key stages involved in software creation and delivery (Cobb, 2015, p. 384). Traditionally, software development followed a linear, sequential process; however, the emergence of the Agile methodology has transformed this approach. Agile emphasizes flexibility, responsiveness, and continuous value delivery rather than adhering to a fixed sequence of phases. Through its iterative and incremental nature, Agile promotes ongoing refinement across the primary stages of the SDLC, which typically include requirements gathering, design and development, testing, and implementation or deployment</a:t>
            </a:r>
            <a:endParaRPr/>
          </a:p>
        </p:txBody>
      </p:sp>
      <p:sp>
        <p:nvSpPr>
          <p:cNvPr id="247" name="Google Shape;247;p7"/>
          <p:cNvSpPr txBox="1"/>
          <p:nvPr>
            <p:ph idx="4" type="body"/>
          </p:nvPr>
        </p:nvSpPr>
        <p:spPr>
          <a:xfrm>
            <a:off x="6283234" y="1436915"/>
            <a:ext cx="5035731" cy="52251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US" sz="1800"/>
              <a:t>Agile's Impact on SDLC</a:t>
            </a:r>
            <a:endParaRPr/>
          </a:p>
        </p:txBody>
      </p:sp>
      <p:sp>
        <p:nvSpPr>
          <p:cNvPr id="248" name="Google Shape;248;p7"/>
          <p:cNvSpPr txBox="1"/>
          <p:nvPr>
            <p:ph idx="2" type="body"/>
          </p:nvPr>
        </p:nvSpPr>
        <p:spPr>
          <a:xfrm>
            <a:off x="6096000" y="1988250"/>
            <a:ext cx="6096000" cy="421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chemeClr val="dk1"/>
              </a:buClr>
              <a:buSzPts val="1050"/>
              <a:buNone/>
            </a:pPr>
            <a:r>
              <a:rPr lang="en-US" sz="1000"/>
              <a:t>The Agile methodology divides project development into smaller, more manageable segments known as iterations or sprints. This approach promotes collaboration, adaptability, and continuous improvement throughout the software development process (Cobb, 2015, pp. 259–284). Each phase of the Agile cycle contributes to incremental progress and value delivery:</a:t>
            </a:r>
            <a:endParaRPr sz="1000"/>
          </a:p>
          <a:p>
            <a:pPr indent="0" lvl="0" marL="0" rtl="0" algn="l">
              <a:lnSpc>
                <a:spcPct val="90000"/>
              </a:lnSpc>
              <a:spcBef>
                <a:spcPts val="1000"/>
              </a:spcBef>
              <a:spcAft>
                <a:spcPts val="0"/>
              </a:spcAft>
              <a:buClr>
                <a:schemeClr val="dk1"/>
              </a:buClr>
              <a:buSzPts val="1050"/>
              <a:buNone/>
            </a:pPr>
            <a:r>
              <a:rPr lang="en-US" sz="1000"/>
              <a:t>	1.	Requirements: Agile teams engage in ongoing communication with clients and end users to gather feedback continuously. Rather than defining all requirements at the start of a project, teams collaborate with stakeholders to establish priorities and address immediate needs, ensuring alignment with evolving business goals.</a:t>
            </a:r>
            <a:endParaRPr sz="1000"/>
          </a:p>
          <a:p>
            <a:pPr indent="0" lvl="0" marL="0" rtl="0" algn="l">
              <a:lnSpc>
                <a:spcPct val="90000"/>
              </a:lnSpc>
              <a:spcBef>
                <a:spcPts val="1000"/>
              </a:spcBef>
              <a:spcAft>
                <a:spcPts val="0"/>
              </a:spcAft>
              <a:buClr>
                <a:schemeClr val="dk1"/>
              </a:buClr>
              <a:buSzPts val="1050"/>
              <a:buNone/>
            </a:pPr>
            <a:r>
              <a:rPr lang="en-US" sz="1000"/>
              <a:t>	2.	Design and Development: In Agile development, design activities occur within each iteration, allowing teams to respond effectively to changing requirements. This process encourages close collaboration between developers and stakeholders, who work together to refine and adapt design elements. Agile teams focus on delivering functional software frequently—typically every two to four weeks. Developers set achievable goals, regularly refactor code, and optimize system performance to maintain long-term quality and flexibility.</a:t>
            </a:r>
            <a:endParaRPr sz="1000"/>
          </a:p>
          <a:p>
            <a:pPr indent="0" lvl="0" marL="0" rtl="0" algn="l">
              <a:lnSpc>
                <a:spcPct val="90000"/>
              </a:lnSpc>
              <a:spcBef>
                <a:spcPts val="1000"/>
              </a:spcBef>
              <a:spcAft>
                <a:spcPts val="0"/>
              </a:spcAft>
              <a:buClr>
                <a:schemeClr val="dk1"/>
              </a:buClr>
              <a:buSzPts val="1050"/>
              <a:buNone/>
            </a:pPr>
            <a:r>
              <a:rPr lang="en-US" sz="1000"/>
              <a:t>	3.	Testing: Testing in Agile occurs concurrently with development, enabling early identification and resolution of issues. Testers and developers collaborate closely to validate functionality, while automated testing tools support continuous integration and ensure product quality. This iterative testing approach allows teams to adapt quickly to modifications without compromising stability.</a:t>
            </a:r>
            <a:endParaRPr sz="1000"/>
          </a:p>
          <a:p>
            <a:pPr indent="0" lvl="0" marL="0" rtl="0" algn="l">
              <a:lnSpc>
                <a:spcPct val="90000"/>
              </a:lnSpc>
              <a:spcBef>
                <a:spcPts val="1000"/>
              </a:spcBef>
              <a:spcAft>
                <a:spcPts val="0"/>
              </a:spcAft>
              <a:buClr>
                <a:schemeClr val="dk1"/>
              </a:buClr>
              <a:buSzPts val="1050"/>
              <a:buNone/>
            </a:pPr>
            <a:r>
              <a:rPr lang="en-US" sz="1000"/>
              <a:t>	4.	Implementation and Deployment: Agile teams release completed software frequently, giving end users early access to new features and improvements. Continuous integration and deployment (CI/CD) practices streamline the release process, minimize risks, and ensure that updates are delivered efficiently and reliably.</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8"/>
          <p:cNvSpPr txBox="1"/>
          <p:nvPr>
            <p:ph idx="12" type="sldNum"/>
          </p:nvPr>
        </p:nvSpPr>
        <p:spPr>
          <a:xfrm>
            <a:off x="90678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5" name="Google Shape;255;p8"/>
          <p:cNvSpPr txBox="1"/>
          <p:nvPr>
            <p:ph idx="4294967295" type="ctrTitle"/>
          </p:nvPr>
        </p:nvSpPr>
        <p:spPr>
          <a:xfrm>
            <a:off x="298814" y="1706011"/>
            <a:ext cx="7460400" cy="23877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lt1"/>
              </a:buClr>
              <a:buSzPts val="5400"/>
              <a:buFont typeface="Arial"/>
              <a:buNone/>
            </a:pPr>
            <a:r>
              <a:rPr b="0" i="0" lang="en-US" sz="5400" u="none" cap="none" strike="noStrike">
                <a:solidFill>
                  <a:schemeClr val="dk1"/>
                </a:solidFill>
                <a:latin typeface="Arial"/>
                <a:ea typeface="Arial"/>
                <a:cs typeface="Arial"/>
                <a:sym typeface="Arial"/>
              </a:rPr>
              <a:t>Phases of the SDLC in the Waterfall </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9"/>
          <p:cNvSpPr/>
          <p:nvPr/>
        </p:nvSpPr>
        <p:spPr>
          <a:xfrm>
            <a:off x="7583175" y="0"/>
            <a:ext cx="5799300" cy="685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txBox="1"/>
          <p:nvPr>
            <p:ph type="title"/>
          </p:nvPr>
        </p:nvSpPr>
        <p:spPr>
          <a:xfrm>
            <a:off x="689430" y="-617228"/>
            <a:ext cx="8401500" cy="1325700"/>
          </a:xfrm>
          <a:prstGeom prst="rect">
            <a:avLst/>
          </a:prstGeom>
          <a:noFill/>
          <a:ln>
            <a:noFill/>
          </a:ln>
        </p:spPr>
        <p:txBody>
          <a:bodyPr anchorCtr="0" anchor="b" bIns="45700" lIns="0" spcFirstLastPara="1" rIns="91425" wrap="square" tIns="45700">
            <a:noAutofit/>
          </a:bodyPr>
          <a:lstStyle/>
          <a:p>
            <a:pPr indent="0" lvl="0" marL="0" rtl="0" algn="l">
              <a:lnSpc>
                <a:spcPct val="90000"/>
              </a:lnSpc>
              <a:spcBef>
                <a:spcPts val="0"/>
              </a:spcBef>
              <a:spcAft>
                <a:spcPts val="0"/>
              </a:spcAft>
              <a:buSzPts val="4800"/>
              <a:buNone/>
            </a:pPr>
            <a:r>
              <a:rPr lang="en-US"/>
              <a:t>PHASES OF SDLC  </a:t>
            </a:r>
            <a:endParaRPr/>
          </a:p>
        </p:txBody>
      </p:sp>
      <p:sp>
        <p:nvSpPr>
          <p:cNvPr id="263" name="Google Shape;263;p9"/>
          <p:cNvSpPr txBox="1"/>
          <p:nvPr>
            <p:ph idx="1" type="body"/>
          </p:nvPr>
        </p:nvSpPr>
        <p:spPr>
          <a:xfrm>
            <a:off x="1369884" y="954846"/>
            <a:ext cx="2281200" cy="867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US"/>
              <a:t>Differences </a:t>
            </a:r>
            <a:endParaRPr/>
          </a:p>
        </p:txBody>
      </p:sp>
      <p:sp>
        <p:nvSpPr>
          <p:cNvPr id="264" name="Google Shape;264;p9"/>
          <p:cNvSpPr txBox="1"/>
          <p:nvPr>
            <p:ph idx="3" type="body"/>
          </p:nvPr>
        </p:nvSpPr>
        <p:spPr>
          <a:xfrm>
            <a:off x="546750" y="1822442"/>
            <a:ext cx="6755100" cy="45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Agile and Waterfall represent two distinct approaches to software development, each with its own strengths and limitations (SDLC, 2023).</a:t>
            </a:r>
            <a:endParaRPr/>
          </a:p>
          <a:p>
            <a:pPr indent="0" lvl="0" marL="0" rtl="0" algn="l">
              <a:lnSpc>
                <a:spcPct val="100000"/>
              </a:lnSpc>
              <a:spcBef>
                <a:spcPts val="0"/>
              </a:spcBef>
              <a:spcAft>
                <a:spcPts val="0"/>
              </a:spcAft>
              <a:buSzPts val="1400"/>
              <a:buNone/>
            </a:pPr>
            <a:r>
              <a:rPr lang="en-US"/>
              <a:t>	•	Flexibility: The Agile methodology promotes adaptability and responsiveness to change, allowing teams to adjust requirements and priorities throughout the project. In contrast, the Waterfall model follows a rigid, sequential structure that leaves little room for modification once a phase has been completed.</a:t>
            </a:r>
            <a:endParaRPr/>
          </a:p>
          <a:p>
            <a:pPr indent="0" lvl="0" marL="0" rtl="0" algn="l">
              <a:lnSpc>
                <a:spcPct val="100000"/>
              </a:lnSpc>
              <a:spcBef>
                <a:spcPts val="0"/>
              </a:spcBef>
              <a:spcAft>
                <a:spcPts val="0"/>
              </a:spcAft>
              <a:buSzPts val="1400"/>
              <a:buNone/>
            </a:pPr>
            <a:r>
              <a:rPr lang="en-US"/>
              <a:t>	•	Documentation: The Waterfall approach emphasizes extensive documentation during its initial phases, ensuring that all requirements are defined before development begins. Agile, on the other hand, prioritizes working software over comprehensive documentation, focusing instead on task completion and collaboration.</a:t>
            </a:r>
            <a:endParaRPr/>
          </a:p>
          <a:p>
            <a:pPr indent="0" lvl="0" marL="0" rtl="0" algn="l">
              <a:lnSpc>
                <a:spcPct val="100000"/>
              </a:lnSpc>
              <a:spcBef>
                <a:spcPts val="0"/>
              </a:spcBef>
              <a:spcAft>
                <a:spcPts val="0"/>
              </a:spcAft>
              <a:buSzPts val="1400"/>
              <a:buNone/>
            </a:pPr>
            <a:r>
              <a:rPr lang="en-US"/>
              <a:t>	•	Client Involvement: Agile development encourages continuous client engagement and feedback throughout the project lifecycle. Conversely, Waterfall typically limits client participation to the initial planning phase, providing few opportunities for input once development begins.</a:t>
            </a:r>
            <a:endParaRPr/>
          </a:p>
          <a:p>
            <a:pPr indent="-317500" lvl="0" marL="457200" rtl="0" algn="l">
              <a:lnSpc>
                <a:spcPct val="100000"/>
              </a:lnSpc>
              <a:spcBef>
                <a:spcPts val="0"/>
              </a:spcBef>
              <a:spcAft>
                <a:spcPts val="0"/>
              </a:spcAft>
              <a:buSzPts val="1400"/>
              <a:buChar char="●"/>
            </a:pPr>
            <a:r>
              <a:rPr lang="en-US"/>
              <a:t>•	Project Scope: In Agile, the project scope is flexible and can evolve as new insights emerge during development. Waterfall projects, however, maintain a fixed scope established during the planning and design stages, making it difficult to incorporate changes later in the process.</a:t>
            </a:r>
            <a:endParaRPr/>
          </a:p>
          <a:p>
            <a:pPr indent="0" lvl="0" marL="0" rtl="0" algn="l">
              <a:lnSpc>
                <a:spcPct val="100000"/>
              </a:lnSpc>
              <a:spcBef>
                <a:spcPts val="0"/>
              </a:spcBef>
              <a:spcAft>
                <a:spcPts val="0"/>
              </a:spcAft>
              <a:buSzPts val="1400"/>
              <a:buNone/>
            </a:pPr>
            <a:r>
              <a:rPr lang="en-US"/>
              <a:t>	•	Risk Management: Agile offers stronger risk management capabilities due to its iterative nature, continuous testing, and focus on improvement. The Waterfall methodology, with its linear and inflexible structure, often struggles to mitigate risks effectively once development is underway.</a:t>
            </a:r>
            <a:endParaRPr/>
          </a:p>
          <a:p>
            <a:pPr indent="0" lvl="0" marL="0" rtl="0" algn="l">
              <a:lnSpc>
                <a:spcPct val="100000"/>
              </a:lnSpc>
              <a:spcBef>
                <a:spcPts val="0"/>
              </a:spcBef>
              <a:spcAft>
                <a:spcPts val="0"/>
              </a:spcAft>
              <a:buSzPts val="1400"/>
              <a:buNone/>
            </a:pPr>
            <a:r>
              <a:t/>
            </a:r>
            <a:endParaRPr/>
          </a:p>
        </p:txBody>
      </p:sp>
      <p:sp>
        <p:nvSpPr>
          <p:cNvPr id="265" name="Google Shape;265;p9"/>
          <p:cNvSpPr txBox="1"/>
          <p:nvPr>
            <p:ph idx="12" type="sldNum"/>
          </p:nvPr>
        </p:nvSpPr>
        <p:spPr>
          <a:xfrm>
            <a:off x="8332334" y="6356350"/>
            <a:ext cx="1167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6" name="Google Shape;266;p9"/>
          <p:cNvSpPr txBox="1"/>
          <p:nvPr/>
        </p:nvSpPr>
        <p:spPr>
          <a:xfrm>
            <a:off x="7583175" y="1259450"/>
            <a:ext cx="5615400" cy="511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The Waterfall methodology follows a linear and sequential structure in which each phase must be completed before progressing to the next, with no overlap between stages. This approach is characterized by its rigidity, predictability, and emphasis on thorough documentation and planning. Projects that adopt the Waterfall model typically operate under fixed timelines and budgets, prioritize detailed design documentation, and involve limited client feedback once development begins. As a result, the Waterfall approach offers clarity and control but lacks flexibility when responding to changing requirements (SDLC, 2023).</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	1.	Requirement Analysis:</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The initial phase of the Waterfall model involves gathering and documenting all software requirements. This documentation serves as the foundation for the entire project, ensuring that all stakeholders share a clear understanding of the software’s intended functions and objectives.</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	2.	System Design:</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Once the requirements have been established, the next step involves designing the system architecture. This includes defining both the hardware and software components necessary for the project. Design documents, diagrams, and flowcharts are created to visualize the system’s structure and to guide developers during implementation.</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	3.	Implementation:</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In the implementation phase, programmers translate the design specifications into executable code. Development proceeds according to the predefined requirements, with the goal of producing a functional software product that aligns with the design and meets established objectives.</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	4.	Testing:</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The testing phase focuses on identifying and correcting defects, validating performance, and ensuring that the software meets all documented requirements. This phase is critical to confirming the reliability and functionality of the system before deployment.</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	5.	Deployment:</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Once testing is complete, the software is deployed and made available to the client or end users. This phase marks the formal release of the product into its intended operational environment.</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	6.	Maintenance:</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After deployment, the maintenance phase ensures the continued functionality and relevance of the software. During this stage, developers address any issues that arise, release updates, and make modifications to accommodate evolving user needs or system changes.</a:t>
            </a:r>
            <a:endParaRPr b="0" i="0" sz="1000" u="none" cap="none" strike="noStrike">
              <a:solidFill>
                <a:schemeClr val="dk1"/>
              </a:solidFill>
              <a:latin typeface="Arial"/>
              <a:ea typeface="Arial"/>
              <a:cs typeface="Arial"/>
              <a:sym typeface="Arial"/>
            </a:endParaRPr>
          </a:p>
        </p:txBody>
      </p:sp>
      <p:sp>
        <p:nvSpPr>
          <p:cNvPr id="267" name="Google Shape;267;p9"/>
          <p:cNvSpPr txBox="1"/>
          <p:nvPr>
            <p:ph idx="1" type="body"/>
          </p:nvPr>
        </p:nvSpPr>
        <p:spPr>
          <a:xfrm>
            <a:off x="9139725" y="-281849"/>
            <a:ext cx="2281200" cy="13257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US"/>
              <a:t>Sequential phases of the waterfall SDLC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0"/>
          <p:cNvSpPr txBox="1"/>
          <p:nvPr>
            <p:ph idx="12" type="sldNum"/>
          </p:nvPr>
        </p:nvSpPr>
        <p:spPr>
          <a:xfrm>
            <a:off x="90678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4" name="Google Shape;274;p10"/>
          <p:cNvSpPr txBox="1"/>
          <p:nvPr>
            <p:ph idx="4294967295" type="ctrTitle"/>
          </p:nvPr>
        </p:nvSpPr>
        <p:spPr>
          <a:xfrm>
            <a:off x="213905" y="1608040"/>
            <a:ext cx="7460400" cy="23877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lt1"/>
              </a:buClr>
              <a:buSzPts val="5400"/>
              <a:buFont typeface="Arial"/>
              <a:buNone/>
            </a:pPr>
            <a:r>
              <a:rPr b="0" i="0" lang="en-US" sz="5400" u="none" cap="none" strike="noStrike">
                <a:solidFill>
                  <a:schemeClr val="dk1"/>
                </a:solidFill>
                <a:latin typeface="Arial"/>
                <a:ea typeface="Arial"/>
                <a:cs typeface="Arial"/>
                <a:sym typeface="Arial"/>
              </a:rPr>
              <a:t>Significant criteria Waterfall or Agile </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1"/>
          <p:cNvSpPr txBox="1"/>
          <p:nvPr>
            <p:ph type="title"/>
          </p:nvPr>
        </p:nvSpPr>
        <p:spPr>
          <a:xfrm>
            <a:off x="2412892" y="381000"/>
            <a:ext cx="9779100" cy="1325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b="0" lang="en-US">
                <a:solidFill>
                  <a:srgbClr val="000000"/>
                </a:solidFill>
              </a:rPr>
              <a:t> Waterfall or Agile </a:t>
            </a:r>
            <a:endParaRPr b="0" sz="1400">
              <a:solidFill>
                <a:srgbClr val="000000"/>
              </a:solidFill>
            </a:endParaRPr>
          </a:p>
          <a:p>
            <a:pPr indent="0" lvl="0" marL="0" rtl="0" algn="l">
              <a:lnSpc>
                <a:spcPct val="90000"/>
              </a:lnSpc>
              <a:spcBef>
                <a:spcPts val="0"/>
              </a:spcBef>
              <a:spcAft>
                <a:spcPts val="0"/>
              </a:spcAft>
              <a:buSzPts val="4800"/>
              <a:buNone/>
            </a:pPr>
            <a:r>
              <a:t/>
            </a:r>
            <a:endParaRPr/>
          </a:p>
        </p:txBody>
      </p:sp>
      <p:sp>
        <p:nvSpPr>
          <p:cNvPr id="281" name="Google Shape;281;p11"/>
          <p:cNvSpPr txBox="1"/>
          <p:nvPr>
            <p:ph idx="4294967295" type="body"/>
          </p:nvPr>
        </p:nvSpPr>
        <p:spPr>
          <a:xfrm>
            <a:off x="1021042" y="1494657"/>
            <a:ext cx="4663500" cy="522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en-US" sz="1800"/>
              <a:t>Strengths and Weaknesses  </a:t>
            </a:r>
            <a:endParaRPr b="1"/>
          </a:p>
        </p:txBody>
      </p:sp>
      <p:sp>
        <p:nvSpPr>
          <p:cNvPr id="282" name="Google Shape;282;p11"/>
          <p:cNvSpPr txBox="1"/>
          <p:nvPr>
            <p:ph idx="4294967295" type="body"/>
          </p:nvPr>
        </p:nvSpPr>
        <p:spPr>
          <a:xfrm>
            <a:off x="6286492" y="1494651"/>
            <a:ext cx="4663500" cy="522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en-US" sz="1800"/>
              <a:t>Factors  influencing methodology choice </a:t>
            </a:r>
            <a:endParaRPr b="1"/>
          </a:p>
        </p:txBody>
      </p:sp>
      <p:sp>
        <p:nvSpPr>
          <p:cNvPr id="283" name="Google Shape;283;p11"/>
          <p:cNvSpPr txBox="1"/>
          <p:nvPr/>
        </p:nvSpPr>
        <p:spPr>
          <a:xfrm>
            <a:off x="323850" y="2017250"/>
            <a:ext cx="5905500" cy="422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Agile Strengths: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Adaptable to changing requirements and market trends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Emphasizes customer collaboration and feedback</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Enables faster delivery of working software</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Agile Weaknesses: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Requires experienced team members with strong Agile knowledge</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Predicting timelines and resource allocation is challenging for large teams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Waterfall Strengths: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Simple to understand and follow, ideal for less experienced teams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Progress is easily tracked as stages are completed sequentially</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Waterfall Weaknesses:</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Limited flexibility</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	•	Minimal collaboration</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chemeClr val="dk1"/>
                </a:solidFill>
                <a:latin typeface="Arial"/>
                <a:ea typeface="Arial"/>
                <a:cs typeface="Arial"/>
                <a:sym typeface="Arial"/>
              </a:rPr>
              <a:t>(Cobb, 2015, pp. 2–13)</a:t>
            </a:r>
            <a:endParaRPr b="0" i="0" sz="1300" u="none" cap="none" strike="noStrike">
              <a:solidFill>
                <a:schemeClr val="dk1"/>
              </a:solidFill>
              <a:latin typeface="Arial"/>
              <a:ea typeface="Arial"/>
              <a:cs typeface="Arial"/>
              <a:sym typeface="Arial"/>
            </a:endParaRPr>
          </a:p>
        </p:txBody>
      </p:sp>
      <p:sp>
        <p:nvSpPr>
          <p:cNvPr id="284" name="Google Shape;284;p11"/>
          <p:cNvSpPr txBox="1"/>
          <p:nvPr/>
        </p:nvSpPr>
        <p:spPr>
          <a:xfrm>
            <a:off x="6229350" y="2605500"/>
            <a:ext cx="5219700" cy="2301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chemeClr val="dk1"/>
                </a:solidFill>
                <a:latin typeface="Arial"/>
                <a:ea typeface="Arial"/>
                <a:cs typeface="Arial"/>
                <a:sym typeface="Arial"/>
              </a:rPr>
              <a:t>	•	Project Size and Complexity: Agile is well-suited for large or complex projects due to its adaptability, whereas Waterfall’s structured approach is better for smaller, straightforward projects.</a:t>
            </a:r>
            <a:endParaRPr b="0" i="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chemeClr val="dk1"/>
                </a:solidFill>
                <a:latin typeface="Arial"/>
                <a:ea typeface="Arial"/>
                <a:cs typeface="Arial"/>
                <a:sym typeface="Arial"/>
              </a:rPr>
              <a:t>	•	Team Experience: Teams unfamiliar with Agile may benefit from Waterfall to ensure clear understanding and execution of project tasks.</a:t>
            </a:r>
            <a:endParaRPr b="0" i="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chemeClr val="dk1"/>
                </a:solidFill>
                <a:latin typeface="Arial"/>
                <a:ea typeface="Arial"/>
                <a:cs typeface="Arial"/>
                <a:sym typeface="Arial"/>
              </a:rPr>
              <a:t>	•	Client Collaboration: Agile requires frequent customer input and collaboration, relying on continuous feedback throughout the project.</a:t>
            </a:r>
            <a:endParaRPr b="0" i="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p:nvPr/>
        </p:nvSpPr>
        <p:spPr>
          <a:xfrm>
            <a:off x="-125" y="75"/>
            <a:ext cx="12192000" cy="685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2"/>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Summary</a:t>
            </a:r>
            <a:endParaRPr/>
          </a:p>
        </p:txBody>
      </p:sp>
      <p:sp>
        <p:nvSpPr>
          <p:cNvPr id="291" name="Google Shape;291;p12"/>
          <p:cNvSpPr txBox="1"/>
          <p:nvPr>
            <p:ph idx="1" type="body"/>
          </p:nvPr>
        </p:nvSpPr>
        <p:spPr>
          <a:xfrm>
            <a:off x="1167492" y="1710829"/>
            <a:ext cx="9779100" cy="3436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lt1"/>
              </a:buClr>
              <a:buSzPts val="2400"/>
              <a:buNone/>
            </a:pPr>
            <a:r>
              <a:rPr lang="en-US" sz="1500">
                <a:solidFill>
                  <a:srgbClr val="000000"/>
                </a:solidFill>
              </a:rPr>
              <a:t>In summary, both the Waterfall and Agile Scrum methodologies offer distinct strengths and present unique challenges, making neither approach universally superior. Waterfall provides a structured, sequential framework that is easy to understand, track, and manage, making it particularly suitable for projects with well-defined requirements and smaller teams. Agile Scrum, in contrast, emphasizes flexibility, iterative development, and continuous collaboration, which allows teams to adapt quickly to changing requirements and deliver incremental value to stakeholders. Choosing between these approaches depends heavily on several factors, including the size and complexity of the project, the experience and skills of the development team, the level of client involvement, and the project timeline. Teams must carefully evaluate these considerations to determine which methodology aligns best with their objectives and resources. Ultimately, a thorough understanding of the core principles, advantages, and limitations of both Waterfall and Agile is essential to making a well-informed decision that ensures project success, maximizes efficiency, and delivers a high-quality product that meets stakeholder expectations.</a:t>
            </a:r>
            <a:endParaRPr sz="1500">
              <a:solidFill>
                <a:srgbClr val="000000"/>
              </a:solidFill>
            </a:endParaRPr>
          </a:p>
        </p:txBody>
      </p:sp>
      <p:sp>
        <p:nvSpPr>
          <p:cNvPr id="292" name="Google Shape;292;p12"/>
          <p:cNvSpPr txBox="1"/>
          <p:nvPr>
            <p:ph idx="12" type="sldNum"/>
          </p:nvPr>
        </p:nvSpPr>
        <p:spPr>
          <a:xfrm>
            <a:off x="10206318" y="6356350"/>
            <a:ext cx="1604682"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3"/>
          <p:cNvSpPr/>
          <p:nvPr/>
        </p:nvSpPr>
        <p:spPr>
          <a:xfrm>
            <a:off x="-396875" y="0"/>
            <a:ext cx="12588900" cy="717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3"/>
          <p:cNvSpPr txBox="1"/>
          <p:nvPr>
            <p:ph type="title"/>
          </p:nvPr>
        </p:nvSpPr>
        <p:spPr>
          <a:xfrm>
            <a:off x="3420835" y="-276594"/>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References</a:t>
            </a:r>
            <a:endParaRPr/>
          </a:p>
        </p:txBody>
      </p:sp>
      <p:sp>
        <p:nvSpPr>
          <p:cNvPr id="299" name="Google Shape;299;p13"/>
          <p:cNvSpPr txBox="1"/>
          <p:nvPr>
            <p:ph idx="10" type="dt"/>
          </p:nvPr>
        </p:nvSpPr>
        <p:spPr>
          <a:xfrm>
            <a:off x="381000" y="6356350"/>
            <a:ext cx="1767114"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6/13/2023</a:t>
            </a:r>
            <a:endParaRPr/>
          </a:p>
        </p:txBody>
      </p:sp>
      <p:sp>
        <p:nvSpPr>
          <p:cNvPr id="300" name="Google Shape;30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Agile Presentation</a:t>
            </a:r>
            <a:endParaRPr/>
          </a:p>
        </p:txBody>
      </p:sp>
      <p:sp>
        <p:nvSpPr>
          <p:cNvPr id="301" name="Google Shape;301;p13"/>
          <p:cNvSpPr txBox="1"/>
          <p:nvPr>
            <p:ph idx="4" type="body"/>
          </p:nvPr>
        </p:nvSpPr>
        <p:spPr>
          <a:xfrm>
            <a:off x="1516044" y="1651107"/>
            <a:ext cx="7791241" cy="52251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E101A"/>
              </a:buClr>
              <a:buSzPts val="1800"/>
              <a:buNone/>
            </a:pPr>
            <a:r>
              <a:rPr lang="en-US" sz="1800">
                <a:solidFill>
                  <a:srgbClr val="0E101A"/>
                </a:solidFill>
                <a:latin typeface="Times New Roman"/>
                <a:ea typeface="Times New Roman"/>
                <a:cs typeface="Times New Roman"/>
                <a:sym typeface="Times New Roman"/>
              </a:rPr>
              <a:t>Charles G. Cobb. (2015). </a:t>
            </a:r>
            <a:r>
              <a:rPr i="1" lang="en-US" sz="1800">
                <a:solidFill>
                  <a:srgbClr val="0E101A"/>
                </a:solidFill>
                <a:latin typeface="Times New Roman"/>
                <a:ea typeface="Times New Roman"/>
                <a:cs typeface="Times New Roman"/>
                <a:sym typeface="Times New Roman"/>
              </a:rPr>
              <a:t>The Project Manager’s Guide to Mastering Agile : Principles and Practices for an Adaptive Approach</a:t>
            </a:r>
            <a:r>
              <a:rPr lang="en-US" sz="1800">
                <a:solidFill>
                  <a:srgbClr val="0E101A"/>
                </a:solidFill>
                <a:latin typeface="Times New Roman"/>
                <a:ea typeface="Times New Roman"/>
                <a:cs typeface="Times New Roman"/>
                <a:sym typeface="Times New Roman"/>
              </a:rPr>
              <a:t>. Wiley.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(2023, January 1). </a:t>
            </a:r>
            <a:r>
              <a:rPr i="1" lang="en-US" sz="1800">
                <a:solidFill>
                  <a:srgbClr val="0E101A"/>
                </a:solidFill>
                <a:latin typeface="Times New Roman"/>
                <a:ea typeface="Times New Roman"/>
                <a:cs typeface="Times New Roman"/>
                <a:sym typeface="Times New Roman"/>
              </a:rPr>
              <a:t>SDLC - Iterative Model</a:t>
            </a:r>
            <a:r>
              <a:rPr lang="en-US" sz="1800">
                <a:latin typeface="Times New Roman"/>
                <a:ea typeface="Times New Roman"/>
                <a:cs typeface="Times New Roman"/>
                <a:sym typeface="Times New Roman"/>
              </a:rPr>
              <a:t>. Learn SDLC. Retrieved OCT 19, 2025, from </a:t>
            </a:r>
            <a:r>
              <a:rPr lang="en-US" sz="1800" u="sng">
                <a:solidFill>
                  <a:schemeClr val="hlink"/>
                </a:solidFill>
                <a:latin typeface="Times New Roman"/>
                <a:ea typeface="Times New Roman"/>
                <a:cs typeface="Times New Roman"/>
                <a:sym typeface="Times New Roman"/>
                <a:hlinkClick r:id="rId3"/>
              </a:rPr>
              <a:t>http://www.tutorialspoint.com/sdlc/sdlc_iterative_model.htm#</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SDLC (2023, January 1). </a:t>
            </a:r>
            <a:r>
              <a:rPr i="1" lang="en-US" sz="1800">
                <a:latin typeface="Times New Roman"/>
                <a:ea typeface="Times New Roman"/>
                <a:cs typeface="Times New Roman"/>
                <a:sym typeface="Times New Roman"/>
              </a:rPr>
              <a:t>SDLC - Waterfall Model</a:t>
            </a:r>
            <a:r>
              <a:rPr lang="en-US" sz="1800">
                <a:latin typeface="Times New Roman"/>
                <a:ea typeface="Times New Roman"/>
                <a:cs typeface="Times New Roman"/>
                <a:sym typeface="Times New Roman"/>
              </a:rPr>
              <a:t>. Learn SDLC. Retrieved  OCT. 19, 2025, from </a:t>
            </a:r>
            <a:r>
              <a:rPr lang="en-US" sz="1800" u="sng">
                <a:solidFill>
                  <a:schemeClr val="hlink"/>
                </a:solidFill>
                <a:latin typeface="Times New Roman"/>
                <a:ea typeface="Times New Roman"/>
                <a:cs typeface="Times New Roman"/>
                <a:sym typeface="Times New Roman"/>
                <a:hlinkClick r:id="rId4"/>
              </a:rPr>
              <a:t>http://www.tutorialspoint.com/sdlc/sdlc_iterative_model.htm#</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302" name="Google Shape;302;p13"/>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